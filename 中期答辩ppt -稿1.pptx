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32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434" r:id="rId3"/>
    <p:sldId id="435" r:id="rId4"/>
    <p:sldId id="494" r:id="rId5"/>
    <p:sldId id="488" r:id="rId6"/>
    <p:sldId id="512" r:id="rId7"/>
    <p:sldId id="513" r:id="rId8"/>
    <p:sldId id="466" r:id="rId9"/>
    <p:sldId id="519" r:id="rId11"/>
    <p:sldId id="502" r:id="rId12"/>
    <p:sldId id="520" r:id="rId13"/>
    <p:sldId id="522" r:id="rId14"/>
    <p:sldId id="524" r:id="rId15"/>
    <p:sldId id="525" r:id="rId16"/>
    <p:sldId id="534" r:id="rId17"/>
    <p:sldId id="531" r:id="rId18"/>
    <p:sldId id="532" r:id="rId19"/>
    <p:sldId id="535" r:id="rId20"/>
    <p:sldId id="536" r:id="rId21"/>
    <p:sldId id="537" r:id="rId22"/>
    <p:sldId id="538" r:id="rId23"/>
    <p:sldId id="539" r:id="rId24"/>
    <p:sldId id="507" r:id="rId25"/>
    <p:sldId id="540" r:id="rId26"/>
    <p:sldId id="541" r:id="rId27"/>
    <p:sldId id="508" r:id="rId28"/>
    <p:sldId id="543" r:id="rId29"/>
    <p:sldId id="542" r:id="rId30"/>
    <p:sldId id="410" r:id="rId31"/>
    <p:sldId id="421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0C0"/>
    <a:srgbClr val="DAC29C"/>
    <a:srgbClr val="B88F4C"/>
    <a:srgbClr val="B88F4D"/>
    <a:srgbClr val="BD934E"/>
    <a:srgbClr val="005392"/>
    <a:srgbClr val="00487E"/>
    <a:srgbClr val="0B3774"/>
    <a:srgbClr val="062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63" autoAdjust="0"/>
    <p:restoredTop sz="94660"/>
  </p:normalViewPr>
  <p:slideViewPr>
    <p:cSldViewPr snapToGrid="0">
      <p:cViewPr>
        <p:scale>
          <a:sx n="75" d="100"/>
          <a:sy n="75" d="100"/>
        </p:scale>
        <p:origin x="1280" y="8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23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logo-04"/>
          <p:cNvPicPr>
            <a:picLocks noChangeAspect="1"/>
          </p:cNvPicPr>
          <p:nvPr userDrawn="1"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6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10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logo-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8605" y="-464820"/>
            <a:ext cx="3293110" cy="2175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7" Type="http://schemas.openxmlformats.org/officeDocument/2006/relationships/tags" Target="../tags/tag50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8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5.xml"/><Relationship Id="rId7" Type="http://schemas.openxmlformats.org/officeDocument/2006/relationships/image" Target="../media/image13.jpe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16.jpe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70.xml"/><Relationship Id="rId4" Type="http://schemas.openxmlformats.org/officeDocument/2006/relationships/image" Target="../media/image5.png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94.xml"/><Relationship Id="rId1" Type="http://schemas.openxmlformats.org/officeDocument/2006/relationships/tags" Target="../tags/tag8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26.xml"/><Relationship Id="rId17" Type="http://schemas.openxmlformats.org/officeDocument/2006/relationships/image" Target="../media/image23.png"/><Relationship Id="rId16" Type="http://schemas.openxmlformats.org/officeDocument/2006/relationships/image" Target="../media/image21.png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3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1.png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54.xml"/><Relationship Id="rId1" Type="http://schemas.openxmlformats.org/officeDocument/2006/relationships/tags" Target="../tags/tag14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image" Target="../media/image21.png"/><Relationship Id="rId7" Type="http://schemas.openxmlformats.org/officeDocument/2006/relationships/image" Target="../media/image28.png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5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75.xml"/><Relationship Id="rId7" Type="http://schemas.openxmlformats.org/officeDocument/2006/relationships/image" Target="../media/image29.png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82.xml"/><Relationship Id="rId7" Type="http://schemas.openxmlformats.org/officeDocument/2006/relationships/image" Target="../media/image30.png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85.xml"/><Relationship Id="rId4" Type="http://schemas.openxmlformats.org/officeDocument/2006/relationships/image" Target="../media/image5.png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88.xml"/><Relationship Id="rId4" Type="http://schemas.openxmlformats.org/officeDocument/2006/relationships/image" Target="../media/image5.png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16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30.xml"/><Relationship Id="rId4" Type="http://schemas.openxmlformats.org/officeDocument/2006/relationships/image" Target="../media/image33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26" name="矩形 25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0070C0">
                  <a:alpha val="95000"/>
                </a:srgbClr>
              </a:gs>
              <a:gs pos="100000">
                <a:srgbClr val="0070C0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" name="图片 21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23" name="图片 22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0487E"/>
          </a:solidFill>
          <a:ln>
            <a:noFill/>
          </a:ln>
          <a:effectLst>
            <a:outerShdw blurRad="101600" sx="103000" sy="103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3" name="图片 12" descr="logo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12" y="21602"/>
            <a:ext cx="2159844" cy="121211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564968" y="2135217"/>
            <a:ext cx="93208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基于城市电磁信号的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外辐射源无人机探测</a:t>
            </a: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64968" y="4144081"/>
            <a:ext cx="90620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团队成员：</a:t>
            </a:r>
            <a:r>
              <a:rPr lang="zh-CN" alt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王劲升 郭启翔 王锦瑞 严浩国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2238" y="1598827"/>
            <a:ext cx="1637997" cy="46651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logo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68605" y="-464820"/>
            <a:ext cx="3293110" cy="21755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674942" y="2474051"/>
            <a:ext cx="3489433" cy="1777946"/>
            <a:chOff x="453008" y="1955029"/>
            <a:chExt cx="3480581" cy="1519852"/>
          </a:xfrm>
        </p:grpSpPr>
        <p:sp>
          <p:nvSpPr>
            <p:cNvPr id="16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453008" y="1955029"/>
              <a:ext cx="3480581" cy="710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0" b="1">
                  <a:gradFill flip="none" rotWithShape="1">
                    <a:gsLst>
                      <a:gs pos="0">
                        <a:schemeClr val="bg1"/>
                      </a:gs>
                      <a:gs pos="71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BD934E">
                          <a:alpha val="50000"/>
                        </a:srgbClr>
                      </a:gs>
                      <a:gs pos="71000">
                        <a:srgbClr val="BD934E">
                          <a:alpha val="0"/>
                        </a:srgbClr>
                      </a:gs>
                    </a:gsLst>
                    <a:lin ang="5400000" scaled="0"/>
                    <a:tileRect/>
                  </a:gra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CONTENT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BD934E">
                        <a:alpha val="50000"/>
                      </a:srgbClr>
                    </a:gs>
                    <a:gs pos="71000">
                      <a:srgbClr val="BD934E">
                        <a:alpha val="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20" name="TextBox 2"/>
            <p:cNvSpPr txBox="1"/>
            <p:nvPr>
              <p:custDataLst>
                <p:tags r:id="rId3"/>
              </p:custDataLst>
            </p:nvPr>
          </p:nvSpPr>
          <p:spPr>
            <a:xfrm>
              <a:off x="854286" y="2625371"/>
              <a:ext cx="2748639" cy="8495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200" normalizeH="0" baseline="0" noProof="0" dirty="0">
                  <a:ln>
                    <a:noFill/>
                  </a:ln>
                  <a:solidFill>
                    <a:srgbClr val="BD934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目录</a:t>
              </a:r>
              <a:endPara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BD934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339" name="组合 338"/>
          <p:cNvGrpSpPr/>
          <p:nvPr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0">
                <a:srgbClr val="BD934E">
                  <a:alpha val="0"/>
                </a:srgbClr>
              </a:gs>
              <a:gs pos="100000">
                <a:srgbClr val="BD934E">
                  <a:alpha val="50000"/>
                </a:srgbClr>
              </a:gs>
            </a:gsLst>
            <a:lin ang="5400000" scaled="0"/>
          </a:gradFill>
        </p:grpSpPr>
        <p:grpSp>
          <p:nvGrpSpPr>
            <p:cNvPr id="340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441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2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3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4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5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6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7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8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9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0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1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2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3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4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5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6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7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8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9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0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1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2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3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4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5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6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7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8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9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0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1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2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3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4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5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6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7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8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9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0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1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2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3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4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5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6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7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8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89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0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1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2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3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4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5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6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7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8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9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0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1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2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3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4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5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6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7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8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9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0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1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2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3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4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5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6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7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8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9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0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1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2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3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4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5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6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7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8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9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0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1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2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3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4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5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6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7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8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9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0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1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2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3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4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5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6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7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8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9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0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1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2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3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4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5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6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7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8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9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0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1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2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3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4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5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6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7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8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9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0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1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2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3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4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5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6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7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8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9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0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1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2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3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4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5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6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7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8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9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0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1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2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3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4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5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6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7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8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99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0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1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2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3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4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5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6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7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8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09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0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1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2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3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4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5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6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7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8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19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0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1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2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3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4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5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6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7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8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9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0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1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2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3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4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5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6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7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8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9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40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41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2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3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4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5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6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7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9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0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1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2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3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4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5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6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7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8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9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0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1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2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3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4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5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6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7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8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9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0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1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2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3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4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5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6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7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8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9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0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1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2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3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4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5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6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7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8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9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0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1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2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3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4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5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6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7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8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9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0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1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2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3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4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5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6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7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8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9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0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1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2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3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4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5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6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7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8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9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0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1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2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3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4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5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6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7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8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9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0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1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2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3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4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5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6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7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8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9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0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35" name="图片 34" descr="logo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75342">
            <a:off x="806998" y="-3594244"/>
            <a:ext cx="4729480" cy="4364355"/>
          </a:xfrm>
          <a:prstGeom prst="rect">
            <a:avLst/>
          </a:prstGeom>
        </p:spPr>
      </p:pic>
      <p:pic>
        <p:nvPicPr>
          <p:cNvPr id="36" name="图片 35" descr="logo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551636">
            <a:off x="6870456" y="6067642"/>
            <a:ext cx="4729480" cy="436435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827799" y="381238"/>
            <a:ext cx="6707605" cy="1233237"/>
            <a:chOff x="4848726" y="974558"/>
            <a:chExt cx="6707605" cy="1233237"/>
          </a:xfrm>
        </p:grpSpPr>
        <p:sp>
          <p:nvSpPr>
            <p:cNvPr id="49" name="矩形: 圆角 48"/>
            <p:cNvSpPr/>
            <p:nvPr/>
          </p:nvSpPr>
          <p:spPr>
            <a:xfrm>
              <a:off x="4848726" y="974558"/>
              <a:ext cx="6707605" cy="123323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5"/>
              </p:custDataLst>
            </p:nvPr>
          </p:nvSpPr>
          <p:spPr>
            <a:xfrm>
              <a:off x="6562223" y="1300259"/>
              <a:ext cx="4918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600" b="1" dirty="0">
                  <a:cs typeface="+mn-ea"/>
                  <a:sym typeface="+mn-lt"/>
                </a:rPr>
                <a:t>项目概述</a:t>
              </a:r>
              <a:endParaRPr kumimoji="0" lang="zh-CN" altLang="en-US" sz="3600" b="1" i="0" u="none" strike="noStrike" kern="1200" normalizeH="0" baseline="0" noProof="0" dirty="0"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4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4936355" y="1035368"/>
              <a:ext cx="1320798" cy="111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spc="200" normalizeH="0" baseline="0" noProof="0" dirty="0">
                  <a:solidFill>
                    <a:srgbClr val="000000">
                      <a:lumMod val="85000"/>
                      <a:lumOff val="15000"/>
                    </a:srgbClr>
                  </a:solidFill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kumimoji="0" lang="en-US" altLang="zh-CN" sz="4800" b="1" i="0" u="none" strike="noStrike" kern="1200" spc="200" normalizeH="0" baseline="0" noProof="0" dirty="0">
                <a:solidFill>
                  <a:srgbClr val="000000">
                    <a:lumMod val="85000"/>
                    <a:lumOff val="15000"/>
                  </a:srgb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827799" y="1969176"/>
            <a:ext cx="6707605" cy="1233237"/>
            <a:chOff x="4848726" y="974558"/>
            <a:chExt cx="6707605" cy="1233237"/>
          </a:xfrm>
        </p:grpSpPr>
        <p:sp>
          <p:nvSpPr>
            <p:cNvPr id="4" name="矩形: 圆角 3"/>
            <p:cNvSpPr/>
            <p:nvPr/>
          </p:nvSpPr>
          <p:spPr>
            <a:xfrm>
              <a:off x="4848726" y="974558"/>
              <a:ext cx="6707605" cy="123323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6562223" y="1300259"/>
              <a:ext cx="4918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600" b="1" dirty="0">
                  <a:cs typeface="+mn-ea"/>
                  <a:sym typeface="+mn-lt"/>
                </a:rPr>
                <a:t>实现方法和项目进展</a:t>
              </a:r>
              <a:endParaRPr kumimoji="0" lang="zh-CN" altLang="en-US" sz="3600" b="1" i="0" u="none" strike="noStrike" kern="1200" normalizeH="0" baseline="0" noProof="0" dirty="0"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7" name="TextBox 2"/>
            <p:cNvSpPr txBox="1"/>
            <p:nvPr>
              <p:custDataLst>
                <p:tags r:id="rId8"/>
              </p:custDataLst>
            </p:nvPr>
          </p:nvSpPr>
          <p:spPr>
            <a:xfrm>
              <a:off x="4936355" y="1035368"/>
              <a:ext cx="1320798" cy="111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spc="200" normalizeH="0" baseline="0" noProof="0" dirty="0">
                  <a:solidFill>
                    <a:srgbClr val="000000">
                      <a:lumMod val="85000"/>
                      <a:lumOff val="15000"/>
                    </a:srgbClr>
                  </a:solidFill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02</a:t>
              </a:r>
              <a:endParaRPr kumimoji="0" lang="en-US" altLang="zh-CN" sz="4800" b="1" i="0" u="none" strike="noStrike" kern="1200" spc="200" normalizeH="0" baseline="0" noProof="0" dirty="0">
                <a:solidFill>
                  <a:srgbClr val="000000">
                    <a:lumMod val="85000"/>
                    <a:lumOff val="15000"/>
                  </a:srgb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827799" y="3557114"/>
            <a:ext cx="6707605" cy="1233237"/>
            <a:chOff x="4848726" y="974558"/>
            <a:chExt cx="6707605" cy="1233237"/>
          </a:xfrm>
        </p:grpSpPr>
        <p:sp>
          <p:nvSpPr>
            <p:cNvPr id="10" name="矩形: 圆角 9"/>
            <p:cNvSpPr/>
            <p:nvPr/>
          </p:nvSpPr>
          <p:spPr>
            <a:xfrm>
              <a:off x="4848726" y="974558"/>
              <a:ext cx="6707605" cy="123323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6562223" y="1300259"/>
              <a:ext cx="4918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600" b="1" dirty="0">
                  <a:cs typeface="+mn-ea"/>
                  <a:sym typeface="+mn-lt"/>
                </a:rPr>
                <a:t>存在问题与解决方案</a:t>
              </a:r>
              <a:endParaRPr kumimoji="0" lang="zh-CN" altLang="en-US" sz="3600" b="1" i="0" u="none" strike="noStrike" kern="1200" normalizeH="0" baseline="0" noProof="0" dirty="0"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TextBox 2"/>
            <p:cNvSpPr txBox="1"/>
            <p:nvPr>
              <p:custDataLst>
                <p:tags r:id="rId10"/>
              </p:custDataLst>
            </p:nvPr>
          </p:nvSpPr>
          <p:spPr>
            <a:xfrm>
              <a:off x="4936355" y="1035368"/>
              <a:ext cx="1320798" cy="111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spc="200" normalizeH="0" baseline="0" noProof="0" dirty="0">
                  <a:solidFill>
                    <a:srgbClr val="000000">
                      <a:lumMod val="85000"/>
                      <a:lumOff val="15000"/>
                    </a:srgbClr>
                  </a:solidFill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03</a:t>
              </a:r>
              <a:endParaRPr kumimoji="0" lang="en-US" altLang="zh-CN" sz="4800" b="1" i="0" u="none" strike="noStrike" kern="1200" spc="200" normalizeH="0" baseline="0" noProof="0" dirty="0">
                <a:solidFill>
                  <a:srgbClr val="000000">
                    <a:lumMod val="85000"/>
                    <a:lumOff val="15000"/>
                  </a:srgb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827799" y="5145053"/>
            <a:ext cx="6707605" cy="1233237"/>
            <a:chOff x="4848726" y="974558"/>
            <a:chExt cx="6707605" cy="1233237"/>
          </a:xfrm>
        </p:grpSpPr>
        <p:sp>
          <p:nvSpPr>
            <p:cNvPr id="14" name="矩形: 圆角 13"/>
            <p:cNvSpPr/>
            <p:nvPr/>
          </p:nvSpPr>
          <p:spPr>
            <a:xfrm>
              <a:off x="4848726" y="974558"/>
              <a:ext cx="6707605" cy="123323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6562223" y="1300259"/>
              <a:ext cx="4918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600" b="1" dirty="0">
                  <a:cs typeface="+mn-ea"/>
                  <a:sym typeface="+mn-lt"/>
                </a:rPr>
                <a:t>进度安排与经费使用</a:t>
              </a:r>
              <a:endParaRPr kumimoji="0" lang="zh-CN" altLang="en-US" sz="3600" b="1" i="0" u="none" strike="noStrike" kern="1200" normalizeH="0" baseline="0" noProof="0" dirty="0"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TextBox 2"/>
            <p:cNvSpPr txBox="1"/>
            <p:nvPr>
              <p:custDataLst>
                <p:tags r:id="rId12"/>
              </p:custDataLst>
            </p:nvPr>
          </p:nvSpPr>
          <p:spPr>
            <a:xfrm>
              <a:off x="4936355" y="1035368"/>
              <a:ext cx="1320798" cy="111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spc="200" normalizeH="0" baseline="0" noProof="0" dirty="0">
                  <a:solidFill>
                    <a:srgbClr val="000000">
                      <a:lumMod val="85000"/>
                      <a:lumOff val="15000"/>
                    </a:srgbClr>
                  </a:solidFill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04</a:t>
              </a:r>
              <a:endParaRPr kumimoji="0" lang="en-US" altLang="zh-CN" sz="4800" b="1" i="0" u="none" strike="noStrike" kern="1200" spc="200" normalizeH="0" baseline="0" noProof="0" dirty="0">
                <a:solidFill>
                  <a:srgbClr val="000000">
                    <a:lumMod val="85000"/>
                    <a:lumOff val="15000"/>
                  </a:srgbClr>
                </a:solidFill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</p:spTree>
    <p:custDataLst>
      <p:tags r:id="rId1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104147" cy="1167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0" y="1227455"/>
            <a:ext cx="12192000" cy="4322446"/>
            <a:chOff x="0" y="1227455"/>
            <a:chExt cx="12192000" cy="4322446"/>
          </a:xfrm>
        </p:grpSpPr>
        <p:sp>
          <p:nvSpPr>
            <p:cNvPr id="7" name="矩形 6"/>
            <p:cNvSpPr/>
            <p:nvPr/>
          </p:nvSpPr>
          <p:spPr>
            <a:xfrm>
              <a:off x="0" y="1227455"/>
              <a:ext cx="12192000" cy="43224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6571248" y="3090959"/>
              <a:ext cx="49189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3600" b="1" dirty="0">
                  <a:cs typeface="+mn-ea"/>
                  <a:sym typeface="+mn-lt"/>
                </a:rPr>
                <a:t>项目概述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4904546" y="2943543"/>
              <a:ext cx="1320798" cy="111455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2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01</a:t>
              </a:r>
              <a:endParaRPr kumimoji="0" lang="en-US" altLang="zh-CN" sz="7200" b="1" i="0" u="none" strike="noStrike" kern="1200" cap="none" spc="2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pic>
        <p:nvPicPr>
          <p:cNvPr id="11" name="图片 10" descr="logo-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2663190"/>
            <a:ext cx="2785745" cy="156337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4196080" y="2765425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logo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1227455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5513901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52102" y="2765425"/>
            <a:ext cx="2785745" cy="156337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-109768" y="2826068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723194">
            <a:off x="929697" y="-3648561"/>
            <a:ext cx="4729480" cy="4364355"/>
          </a:xfrm>
          <a:prstGeom prst="rect">
            <a:avLst/>
          </a:prstGeom>
        </p:spPr>
      </p:pic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65610">
            <a:off x="6838086" y="6098171"/>
            <a:ext cx="4729480" cy="436435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5418" y="-216269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0" y="7121028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00727" y="7499098"/>
            <a:ext cx="1053638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项目研究一款通过监测、处理并分析城市中已有的电磁信号来探测无人机的位置的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外辐射源雷达系统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r>
              <a:rPr lang="zh-CN" altLang="en-US" sz="3600" dirty="0">
                <a:solidFill>
                  <a:schemeClr val="accent4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也就是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自身不发射电磁波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，而是利用城市现有的电磁信号对特定区域的不同反射目标进行探测、识别以及成像的雷达监测系统，相对于常规的有源雷达有着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更强的隐蔽性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，在城市这一人员密集的环境也能够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准确定位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类无人机物体。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735357" y="291942"/>
            <a:ext cx="1839729" cy="646658"/>
            <a:chOff x="516465" y="326968"/>
            <a:chExt cx="1839729" cy="646658"/>
          </a:xfrm>
        </p:grpSpPr>
        <p:sp>
          <p:nvSpPr>
            <p:cNvPr id="26" name="矩形 25"/>
            <p:cNvSpPr/>
            <p:nvPr/>
          </p:nvSpPr>
          <p:spPr>
            <a:xfrm>
              <a:off x="1137591" y="450242"/>
              <a:ext cx="121860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项目概况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01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 rot="10800000">
            <a:off x="715199" y="1277253"/>
            <a:ext cx="11049737" cy="506549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6578988" y="1602935"/>
            <a:ext cx="4327343" cy="965909"/>
            <a:chOff x="1282087" y="1575990"/>
            <a:chExt cx="3270582" cy="965909"/>
          </a:xfrm>
        </p:grpSpPr>
        <p:sp>
          <p:nvSpPr>
            <p:cNvPr id="40" name="矩形 39"/>
            <p:cNvSpPr/>
            <p:nvPr/>
          </p:nvSpPr>
          <p:spPr>
            <a:xfrm>
              <a:off x="1909307" y="2232904"/>
              <a:ext cx="2643362" cy="308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282087" y="1575990"/>
              <a:ext cx="32701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外辐射源雷达系统</a:t>
              </a:r>
              <a:endParaRPr lang="zh-CN" altLang="en-US" sz="4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635157" y="3053906"/>
            <a:ext cx="4271173" cy="994745"/>
            <a:chOff x="7153385" y="3282771"/>
            <a:chExt cx="4271173" cy="994745"/>
          </a:xfrm>
        </p:grpSpPr>
        <p:pic>
          <p:nvPicPr>
            <p:cNvPr id="43" name="图形 4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53385" y="3282771"/>
              <a:ext cx="480384" cy="480384"/>
            </a:xfrm>
            <a:prstGeom prst="rect">
              <a:avLst/>
            </a:prstGeom>
          </p:spPr>
        </p:pic>
        <p:grpSp>
          <p:nvGrpSpPr>
            <p:cNvPr id="44" name="组合 43"/>
            <p:cNvGrpSpPr/>
            <p:nvPr/>
          </p:nvGrpSpPr>
          <p:grpSpPr>
            <a:xfrm>
              <a:off x="7897815" y="3299560"/>
              <a:ext cx="3526743" cy="977956"/>
              <a:chOff x="1887176" y="1780605"/>
              <a:chExt cx="2665493" cy="977956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1909307" y="2232904"/>
                <a:ext cx="2643362" cy="52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1887176" y="1780605"/>
                <a:ext cx="20004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schemeClr val="bg1"/>
                    </a:solidFill>
                  </a:rPr>
                  <a:t>自身不发射电磁波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6635715" y="4533712"/>
            <a:ext cx="4270058" cy="977956"/>
            <a:chOff x="7154500" y="4575910"/>
            <a:chExt cx="4270058" cy="977956"/>
          </a:xfrm>
        </p:grpSpPr>
        <p:pic>
          <p:nvPicPr>
            <p:cNvPr id="48" name="图形 4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54500" y="4640262"/>
              <a:ext cx="401954" cy="381000"/>
            </a:xfrm>
            <a:prstGeom prst="rect">
              <a:avLst/>
            </a:prstGeom>
          </p:spPr>
        </p:pic>
        <p:grpSp>
          <p:nvGrpSpPr>
            <p:cNvPr id="49" name="组合 48"/>
            <p:cNvGrpSpPr/>
            <p:nvPr/>
          </p:nvGrpSpPr>
          <p:grpSpPr>
            <a:xfrm>
              <a:off x="7897815" y="4575910"/>
              <a:ext cx="3526743" cy="977956"/>
              <a:chOff x="1887176" y="1780605"/>
              <a:chExt cx="2665493" cy="977956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1909307" y="2232904"/>
                <a:ext cx="2643362" cy="525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1887176" y="1780605"/>
                <a:ext cx="10700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schemeClr val="bg1"/>
                    </a:solidFill>
                  </a:rPr>
                  <a:t>多辐射源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4" t="-63" r="36972" b="63"/>
          <a:stretch>
            <a:fillRect/>
          </a:stretch>
        </p:blipFill>
        <p:spPr bwMode="auto">
          <a:xfrm>
            <a:off x="671789" y="1259418"/>
            <a:ext cx="5306558" cy="5101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 rot="10800000">
            <a:off x="1643291" y="1185111"/>
            <a:ext cx="9734606" cy="474845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336512" y="2518828"/>
            <a:ext cx="4129333" cy="620430"/>
            <a:chOff x="5442857" y="3574143"/>
            <a:chExt cx="4129333" cy="620430"/>
          </a:xfrm>
        </p:grpSpPr>
        <p:pic>
          <p:nvPicPr>
            <p:cNvPr id="10" name="图形 9" descr="感叹号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442857" y="3574143"/>
              <a:ext cx="522514" cy="522514"/>
            </a:xfrm>
            <a:prstGeom prst="rect">
              <a:avLst/>
            </a:prstGeom>
          </p:spPr>
        </p:pic>
        <p:grpSp>
          <p:nvGrpSpPr>
            <p:cNvPr id="43" name="组合 42"/>
            <p:cNvGrpSpPr/>
            <p:nvPr/>
          </p:nvGrpSpPr>
          <p:grpSpPr>
            <a:xfrm>
              <a:off x="6236171" y="3589116"/>
              <a:ext cx="3336019" cy="605457"/>
              <a:chOff x="784353" y="5294424"/>
              <a:chExt cx="3336019" cy="605457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792790" y="5590886"/>
                <a:ext cx="332758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784353" y="5294424"/>
                <a:ext cx="23884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schemeClr val="bg1"/>
                    </a:solidFill>
                  </a:rPr>
                  <a:t>隐蔽性差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5336512" y="3709018"/>
            <a:ext cx="4326587" cy="587435"/>
            <a:chOff x="5496863" y="4824524"/>
            <a:chExt cx="4326587" cy="587435"/>
          </a:xfrm>
        </p:grpSpPr>
        <p:pic>
          <p:nvPicPr>
            <p:cNvPr id="12" name="图形 11" descr="感叹号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496863" y="4824524"/>
              <a:ext cx="455502" cy="455502"/>
            </a:xfrm>
            <a:prstGeom prst="rect">
              <a:avLst/>
            </a:prstGeom>
          </p:spPr>
        </p:pic>
        <p:grpSp>
          <p:nvGrpSpPr>
            <p:cNvPr id="46" name="组合 45"/>
            <p:cNvGrpSpPr/>
            <p:nvPr/>
          </p:nvGrpSpPr>
          <p:grpSpPr>
            <a:xfrm>
              <a:off x="6244608" y="4824524"/>
              <a:ext cx="3578842" cy="587435"/>
              <a:chOff x="792790" y="5312446"/>
              <a:chExt cx="3578842" cy="587435"/>
            </a:xfrm>
          </p:grpSpPr>
          <p:sp>
            <p:nvSpPr>
              <p:cNvPr id="47" name="矩形 46"/>
              <p:cNvSpPr/>
              <p:nvPr/>
            </p:nvSpPr>
            <p:spPr>
              <a:xfrm>
                <a:off x="792790" y="5590886"/>
                <a:ext cx="357884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807089" y="5312446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schemeClr val="bg1"/>
                    </a:solidFill>
                  </a:rPr>
                  <a:t>电磁信号污染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1086" y="1805507"/>
            <a:ext cx="3256486" cy="481308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309988" y="1441158"/>
            <a:ext cx="3272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en-US" sz="40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常规有源雷达</a:t>
            </a:r>
            <a:endParaRPr lang="zh-CN" altLang="en-US" sz="40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336512" y="4866213"/>
            <a:ext cx="4326587" cy="587435"/>
            <a:chOff x="5496863" y="4824524"/>
            <a:chExt cx="4326587" cy="587435"/>
          </a:xfrm>
        </p:grpSpPr>
        <p:pic>
          <p:nvPicPr>
            <p:cNvPr id="7" name="图形 6" descr="感叹号 纯色填充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496863" y="4824524"/>
              <a:ext cx="455502" cy="455502"/>
            </a:xfrm>
            <a:prstGeom prst="rect">
              <a:avLst/>
            </a:prstGeom>
          </p:spPr>
        </p:pic>
        <p:grpSp>
          <p:nvGrpSpPr>
            <p:cNvPr id="8" name="组合 7"/>
            <p:cNvGrpSpPr/>
            <p:nvPr/>
          </p:nvGrpSpPr>
          <p:grpSpPr>
            <a:xfrm>
              <a:off x="6244608" y="4850682"/>
              <a:ext cx="3578842" cy="561277"/>
              <a:chOff x="792790" y="5338604"/>
              <a:chExt cx="3578842" cy="561277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792790" y="5590886"/>
                <a:ext cx="3578842" cy="308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endPara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07100" y="5338604"/>
                <a:ext cx="2031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zh-CN" altLang="en-US" sz="2400" dirty="0">
                    <a:solidFill>
                      <a:schemeClr val="bg1"/>
                    </a:solidFill>
                  </a:rPr>
                  <a:t>全覆盖成本高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2735357" y="291942"/>
            <a:ext cx="1839729" cy="646658"/>
            <a:chOff x="516465" y="326968"/>
            <a:chExt cx="1839729" cy="646658"/>
          </a:xfrm>
        </p:grpSpPr>
        <p:sp>
          <p:nvSpPr>
            <p:cNvPr id="18" name="矩形 17"/>
            <p:cNvSpPr/>
            <p:nvPr/>
          </p:nvSpPr>
          <p:spPr>
            <a:xfrm>
              <a:off x="1137591" y="450242"/>
              <a:ext cx="121860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项目概况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01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1167853" y="3266910"/>
            <a:ext cx="3479423" cy="8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外辐射源雷达接收的往往信号信噪比低，探测难度大。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296938" y="2131435"/>
            <a:ext cx="10054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dirty="0"/>
              <a:t>难点</a:t>
            </a:r>
            <a:endParaRPr lang="zh-CN" altLang="en-US" sz="3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2735357" y="291942"/>
            <a:ext cx="1839729" cy="646658"/>
            <a:chOff x="516465" y="326968"/>
            <a:chExt cx="1839729" cy="646658"/>
          </a:xfrm>
        </p:grpSpPr>
        <p:sp>
          <p:nvSpPr>
            <p:cNvPr id="3" name="矩形 2"/>
            <p:cNvSpPr/>
            <p:nvPr/>
          </p:nvSpPr>
          <p:spPr>
            <a:xfrm>
              <a:off x="1137591" y="450242"/>
              <a:ext cx="1218603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项目概述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01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878" y="815326"/>
            <a:ext cx="7195750" cy="513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27455"/>
            <a:ext cx="12192000" cy="43224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8" name="图片 7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9453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2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02</a:t>
            </a:r>
            <a:endParaRPr kumimoji="0" lang="en-US" altLang="zh-CN" sz="7200" b="1" i="0" u="none" strike="noStrike" kern="1200" cap="none" spc="2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611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实现方法和项目进展</a:t>
            </a:r>
            <a:endParaRPr kumimoji="0" lang="zh-CN" altLang="en-US" sz="3200" b="1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8" name="图片 17" descr="logo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2663190"/>
            <a:ext cx="2785745" cy="1563370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4196080" y="2765425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1227455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5513901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7393" y="3630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实现方法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sp>
        <p:nvSpPr>
          <p:cNvPr id="3" name="矩形: 圆角 2"/>
          <p:cNvSpPr/>
          <p:nvPr/>
        </p:nvSpPr>
        <p:spPr>
          <a:xfrm>
            <a:off x="1899781" y="1771650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信号重构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3752111" y="1771650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多级匹配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5604441" y="1771650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同步定位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7456771" y="1771650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多普勒维相干积累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9309100" y="1771650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相位补偿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10585449" y="2771775"/>
            <a:ext cx="1276350" cy="4646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RD</a:t>
            </a:r>
            <a:r>
              <a:rPr lang="zh-CN" altLang="en-US" sz="1200" dirty="0">
                <a:solidFill>
                  <a:schemeClr val="tx1"/>
                </a:solidFill>
              </a:rPr>
              <a:t>可视化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5604441" y="3772958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滤波降噪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7212539" y="3781348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动目标显示（</a:t>
            </a:r>
            <a:r>
              <a:rPr lang="en-US" altLang="zh-CN" sz="1200" dirty="0">
                <a:solidFill>
                  <a:schemeClr val="tx1"/>
                </a:solidFill>
              </a:rPr>
              <a:t>MTI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3" idx="3"/>
            <a:endCxn id="4" idx="1"/>
          </p:cNvCxnSpPr>
          <p:nvPr/>
        </p:nvCxnSpPr>
        <p:spPr>
          <a:xfrm>
            <a:off x="3176131" y="2003425"/>
            <a:ext cx="575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3"/>
            <a:endCxn id="6" idx="1"/>
          </p:cNvCxnSpPr>
          <p:nvPr/>
        </p:nvCxnSpPr>
        <p:spPr>
          <a:xfrm>
            <a:off x="5028461" y="2003425"/>
            <a:ext cx="575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6" idx="3"/>
            <a:endCxn id="7" idx="1"/>
          </p:cNvCxnSpPr>
          <p:nvPr/>
        </p:nvCxnSpPr>
        <p:spPr>
          <a:xfrm>
            <a:off x="6880791" y="2003425"/>
            <a:ext cx="5759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7" idx="3"/>
            <a:endCxn id="16" idx="1"/>
          </p:cNvCxnSpPr>
          <p:nvPr/>
        </p:nvCxnSpPr>
        <p:spPr>
          <a:xfrm>
            <a:off x="8733121" y="2003425"/>
            <a:ext cx="575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6" idx="3"/>
            <a:endCxn id="18" idx="0"/>
          </p:cNvCxnSpPr>
          <p:nvPr/>
        </p:nvCxnSpPr>
        <p:spPr>
          <a:xfrm>
            <a:off x="10585450" y="2003425"/>
            <a:ext cx="638174" cy="768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/>
          <p:cNvSpPr/>
          <p:nvPr/>
        </p:nvSpPr>
        <p:spPr>
          <a:xfrm>
            <a:off x="8820637" y="3781348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非相参积累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箭头: 下 61"/>
          <p:cNvSpPr/>
          <p:nvPr/>
        </p:nvSpPr>
        <p:spPr>
          <a:xfrm rot="10800000">
            <a:off x="6392333" y="2587552"/>
            <a:ext cx="2916762" cy="841445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: 圆角 63"/>
          <p:cNvSpPr/>
          <p:nvPr/>
        </p:nvSpPr>
        <p:spPr>
          <a:xfrm>
            <a:off x="3752111" y="2732086"/>
            <a:ext cx="1276350" cy="4635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信号读取函数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5" name="矩形: 圆角 64"/>
          <p:cNvSpPr/>
          <p:nvPr/>
        </p:nvSpPr>
        <p:spPr>
          <a:xfrm>
            <a:off x="3752111" y="3757949"/>
            <a:ext cx="1276350" cy="4635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Python</a:t>
            </a:r>
            <a:r>
              <a:rPr lang="zh-CN" altLang="en-US" sz="1200" dirty="0">
                <a:solidFill>
                  <a:schemeClr val="tx1"/>
                </a:solidFill>
              </a:rPr>
              <a:t>集成可视化程序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矩形: 圆角 65"/>
          <p:cNvSpPr/>
          <p:nvPr/>
        </p:nvSpPr>
        <p:spPr>
          <a:xfrm>
            <a:off x="3750078" y="4743441"/>
            <a:ext cx="1276350" cy="46355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GNU Radio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矩形: 圆角 66"/>
          <p:cNvSpPr/>
          <p:nvPr/>
        </p:nvSpPr>
        <p:spPr>
          <a:xfrm>
            <a:off x="1899781" y="4790921"/>
            <a:ext cx="1276350" cy="46355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USRP N310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/>
          <p:cNvCxnSpPr>
            <a:stCxn id="64" idx="0"/>
            <a:endCxn id="4" idx="2"/>
          </p:cNvCxnSpPr>
          <p:nvPr/>
        </p:nvCxnSpPr>
        <p:spPr>
          <a:xfrm flipV="1">
            <a:off x="4390286" y="2235200"/>
            <a:ext cx="0" cy="496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65" idx="0"/>
            <a:endCxn id="64" idx="2"/>
          </p:cNvCxnSpPr>
          <p:nvPr/>
        </p:nvCxnSpPr>
        <p:spPr>
          <a:xfrm flipV="1">
            <a:off x="4390286" y="3195636"/>
            <a:ext cx="0" cy="56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66" idx="0"/>
            <a:endCxn id="65" idx="2"/>
          </p:cNvCxnSpPr>
          <p:nvPr/>
        </p:nvCxnSpPr>
        <p:spPr>
          <a:xfrm flipV="1">
            <a:off x="4388253" y="4221499"/>
            <a:ext cx="2033" cy="521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: 圆角 74"/>
          <p:cNvSpPr/>
          <p:nvPr/>
        </p:nvSpPr>
        <p:spPr>
          <a:xfrm>
            <a:off x="580130" y="3089994"/>
            <a:ext cx="1647263" cy="8461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监测信号和参考信号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7" name="直接箭头连接符 76"/>
          <p:cNvCxnSpPr>
            <a:stCxn id="75" idx="2"/>
            <a:endCxn id="67" idx="1"/>
          </p:cNvCxnSpPr>
          <p:nvPr/>
        </p:nvCxnSpPr>
        <p:spPr>
          <a:xfrm>
            <a:off x="1403762" y="3936127"/>
            <a:ext cx="496019" cy="1086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endCxn id="66" idx="1"/>
          </p:cNvCxnSpPr>
          <p:nvPr/>
        </p:nvCxnSpPr>
        <p:spPr>
          <a:xfrm>
            <a:off x="3176131" y="4975215"/>
            <a:ext cx="5739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774286" y="1050099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749940" y="2824170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608113" y="4683773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889507" y="2442596"/>
            <a:ext cx="3792560" cy="1777945"/>
            <a:chOff x="453008" y="1955030"/>
            <a:chExt cx="3480581" cy="1519851"/>
          </a:xfrm>
        </p:grpSpPr>
        <p:sp>
          <p:nvSpPr>
            <p:cNvPr id="63" name="TextBox 2"/>
            <p:cNvSpPr txBox="1"/>
            <p:nvPr>
              <p:custDataLst>
                <p:tags r:id="rId7"/>
              </p:custDataLst>
            </p:nvPr>
          </p:nvSpPr>
          <p:spPr>
            <a:xfrm>
              <a:off x="453008" y="1955030"/>
              <a:ext cx="3480581" cy="134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0000" b="1">
                  <a:gradFill flip="none" rotWithShape="1">
                    <a:gsLst>
                      <a:gs pos="0">
                        <a:schemeClr val="bg1"/>
                      </a:gs>
                      <a:gs pos="71000">
                        <a:schemeClr val="bg1">
                          <a:alpha val="0"/>
                        </a:schemeClr>
                      </a:gs>
                    </a:gsLst>
                    <a:lin ang="5400000" scaled="0"/>
                    <a:tileRect/>
                  </a:gradFill>
                  <a:effectLst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srgbClr val="BD934E">
                          <a:alpha val="50000"/>
                        </a:srgbClr>
                      </a:gs>
                      <a:gs pos="71000">
                        <a:srgbClr val="BD934E">
                          <a:alpha val="0"/>
                        </a:srgbClr>
                      </a:gs>
                    </a:gsLst>
                    <a:lin ang="5400000" scaled="0"/>
                    <a:tileRect/>
                  </a:gra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PROGRESS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BD934E">
                        <a:alpha val="50000"/>
                      </a:srgbClr>
                    </a:gs>
                    <a:gs pos="71000">
                      <a:srgbClr val="BD934E">
                        <a:alpha val="0"/>
                      </a:srgbClr>
                    </a:gs>
                  </a:gsLst>
                  <a:lin ang="5400000" scaled="0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64" name="TextBox 2"/>
            <p:cNvSpPr txBox="1"/>
            <p:nvPr>
              <p:custDataLst>
                <p:tags r:id="rId8"/>
              </p:custDataLst>
            </p:nvPr>
          </p:nvSpPr>
          <p:spPr>
            <a:xfrm>
              <a:off x="857832" y="2625371"/>
              <a:ext cx="2748639" cy="8495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1" i="0" u="none" strike="noStrike" kern="1200" cap="none" spc="200" normalizeH="0" baseline="0" noProof="0" dirty="0">
                  <a:ln>
                    <a:noFill/>
                  </a:ln>
                  <a:solidFill>
                    <a:srgbClr val="BD934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项目进展</a:t>
              </a:r>
              <a:endParaRPr kumimoji="0" lang="en-US" altLang="zh-CN" sz="4400" b="1" i="0" u="none" strike="noStrike" kern="1200" cap="none" spc="200" normalizeH="0" baseline="0" noProof="0" dirty="0">
                <a:ln>
                  <a:noFill/>
                </a:ln>
                <a:solidFill>
                  <a:srgbClr val="BD934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239020" y="154510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2570103" y="1519909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33572" y="29711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31" y="2099858"/>
            <a:ext cx="4213860" cy="3162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89581" y="5386311"/>
            <a:ext cx="269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数据采集实地拍摄图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986" y="2745750"/>
            <a:ext cx="5274310" cy="22409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53400" y="5293317"/>
            <a:ext cx="139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部分数据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363855" y="1423035"/>
            <a:ext cx="4632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测试用信号：</a:t>
            </a:r>
            <a:r>
              <a:rPr lang="en-US" altLang="zh-CN">
                <a:solidFill>
                  <a:srgbClr val="FF0000"/>
                </a:solidFill>
              </a:rPr>
              <a:t>30m-35m</a:t>
            </a:r>
            <a:r>
              <a:rPr lang="zh-CN" altLang="en-US"/>
              <a:t>处运动速度为</a:t>
            </a:r>
            <a:r>
              <a:rPr lang="en-US" altLang="zh-CN">
                <a:solidFill>
                  <a:srgbClr val="FF0000"/>
                </a:solidFill>
              </a:rPr>
              <a:t>1m/s</a:t>
            </a:r>
            <a:r>
              <a:rPr lang="zh-CN" altLang="en-US"/>
              <a:t>的无人机目标回波信号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3855" y="10775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硬件设备：</a:t>
            </a:r>
            <a:r>
              <a:rPr lang="en-US" altLang="zh-CN"/>
              <a:t>USRP N310</a:t>
            </a:r>
            <a:endParaRPr lang="en-US" altLang="zh-CN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39840"/>
            <a:ext cx="12192000" cy="123390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015" y="2824655"/>
            <a:ext cx="2899834" cy="348525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1025" y="2764155"/>
            <a:ext cx="2366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处理结果</a:t>
            </a:r>
            <a:r>
              <a:rPr lang="en-US" altLang="zh-CN" dirty="0"/>
              <a:t>RD</a:t>
            </a:r>
            <a:r>
              <a:rPr lang="zh-CN" altLang="en-US" dirty="0"/>
              <a:t>图：（</a:t>
            </a:r>
            <a:r>
              <a:rPr lang="en-US" altLang="zh-CN" dirty="0"/>
              <a:t>Range-Doppler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4626" y="2782969"/>
            <a:ext cx="6242171" cy="350531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3835" y="4130675"/>
            <a:ext cx="2538730" cy="279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目标与接受装置的距离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742565" y="6309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目标相对雷达的径向速度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69510" y="2597785"/>
            <a:ext cx="1626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归一化</a:t>
            </a:r>
            <a:r>
              <a:rPr lang="zh-CN" altLang="en-US"/>
              <a:t>能量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①多级匹配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1585476" y="2252134"/>
            <a:ext cx="8175353" cy="3744888"/>
            <a:chOff x="753086" y="3103007"/>
            <a:chExt cx="5177450" cy="2151393"/>
          </a:xfrm>
        </p:grpSpPr>
        <p:grpSp>
          <p:nvGrpSpPr>
            <p:cNvPr id="4" name="组合 3"/>
            <p:cNvGrpSpPr/>
            <p:nvPr/>
          </p:nvGrpSpPr>
          <p:grpSpPr>
            <a:xfrm>
              <a:off x="753086" y="3103007"/>
              <a:ext cx="1513902" cy="1387556"/>
              <a:chOff x="753086" y="3103007"/>
              <a:chExt cx="1513902" cy="1387556"/>
            </a:xfrm>
          </p:grpSpPr>
          <p:sp>
            <p:nvSpPr>
              <p:cNvPr id="25" name="Title-1"/>
              <p:cNvSpPr/>
              <p:nvPr>
                <p:custDataLst>
                  <p:tags r:id="rId8"/>
                </p:custDataLst>
              </p:nvPr>
            </p:nvSpPr>
            <p:spPr>
              <a:xfrm>
                <a:off x="810100" y="3103007"/>
                <a:ext cx="1399875" cy="3476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上采样匹配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26" name="Body-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53086" y="3695269"/>
                <a:ext cx="1513902" cy="79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进行差值提升时间分辨率，避免混叠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2358453" y="3103007"/>
              <a:ext cx="1740309" cy="2151393"/>
              <a:chOff x="2358453" y="3103007"/>
              <a:chExt cx="1740309" cy="2151393"/>
            </a:xfrm>
          </p:grpSpPr>
          <p:sp>
            <p:nvSpPr>
              <p:cNvPr id="21" name="Title-2"/>
              <p:cNvSpPr/>
              <p:nvPr>
                <p:custDataLst>
                  <p:tags r:id="rId10"/>
                </p:custDataLst>
              </p:nvPr>
            </p:nvSpPr>
            <p:spPr>
              <a:xfrm>
                <a:off x="2641874" y="3103007"/>
                <a:ext cx="1399875" cy="34769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脉冲压缩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22" name="Body-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584860" y="3695269"/>
                <a:ext cx="1513902" cy="155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用重构的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SSB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作为模板，实现距离维匹配滤波，保留位置信息的一致性，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+mn-ea"/>
                  </a:rPr>
                  <a:t>逐步提高信噪比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。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" name="2"/>
              <p:cNvSpPr/>
              <p:nvPr>
                <p:custDataLst>
                  <p:tags r:id="rId12"/>
                </p:custDataLst>
              </p:nvPr>
            </p:nvSpPr>
            <p:spPr>
              <a:xfrm rot="5400000">
                <a:off x="2347658" y="3209378"/>
                <a:ext cx="156540" cy="13494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190222" y="3103007"/>
              <a:ext cx="1740314" cy="1387556"/>
              <a:chOff x="4190222" y="3103007"/>
              <a:chExt cx="1740314" cy="1387556"/>
            </a:xfrm>
          </p:grpSpPr>
          <p:sp>
            <p:nvSpPr>
              <p:cNvPr id="17" name="Title-3"/>
              <p:cNvSpPr/>
              <p:nvPr>
                <p:custDataLst>
                  <p:tags r:id="rId13"/>
                </p:custDataLst>
              </p:nvPr>
            </p:nvSpPr>
            <p:spPr>
              <a:xfrm>
                <a:off x="4473647" y="3103007"/>
                <a:ext cx="1399875" cy="34769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峰值对齐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18" name="Body-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416634" y="3695269"/>
                <a:ext cx="1513902" cy="79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消除脉冲间时间抖动，为相干积累做准备。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9" name="3"/>
              <p:cNvSpPr/>
              <p:nvPr>
                <p:custDataLst>
                  <p:tags r:id="rId15"/>
                </p:custDataLst>
              </p:nvPr>
            </p:nvSpPr>
            <p:spPr>
              <a:xfrm rot="5400000">
                <a:off x="4179427" y="3209378"/>
                <a:ext cx="156540" cy="134949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①多级匹配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1945818" y="7326595"/>
            <a:ext cx="8175353" cy="3744888"/>
            <a:chOff x="753086" y="3103007"/>
            <a:chExt cx="5177450" cy="2151393"/>
          </a:xfrm>
        </p:grpSpPr>
        <p:grpSp>
          <p:nvGrpSpPr>
            <p:cNvPr id="4" name="组合 3"/>
            <p:cNvGrpSpPr/>
            <p:nvPr/>
          </p:nvGrpSpPr>
          <p:grpSpPr>
            <a:xfrm>
              <a:off x="753086" y="3103007"/>
              <a:ext cx="1513902" cy="1132944"/>
              <a:chOff x="753086" y="3103007"/>
              <a:chExt cx="1513902" cy="1132944"/>
            </a:xfrm>
          </p:grpSpPr>
          <p:sp>
            <p:nvSpPr>
              <p:cNvPr id="25" name="Title-1"/>
              <p:cNvSpPr/>
              <p:nvPr>
                <p:custDataLst>
                  <p:tags r:id="rId8"/>
                </p:custDataLst>
              </p:nvPr>
            </p:nvSpPr>
            <p:spPr>
              <a:xfrm>
                <a:off x="810100" y="3103007"/>
                <a:ext cx="1399875" cy="34769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上采样匹配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26" name="Body-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53086" y="3695269"/>
                <a:ext cx="1513902" cy="5406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提升时间分辨率，避免混叠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2358453" y="3103007"/>
              <a:ext cx="1740309" cy="2151393"/>
              <a:chOff x="2358453" y="3103007"/>
              <a:chExt cx="1740309" cy="2151393"/>
            </a:xfrm>
          </p:grpSpPr>
          <p:sp>
            <p:nvSpPr>
              <p:cNvPr id="21" name="Title-2"/>
              <p:cNvSpPr/>
              <p:nvPr>
                <p:custDataLst>
                  <p:tags r:id="rId10"/>
                </p:custDataLst>
              </p:nvPr>
            </p:nvSpPr>
            <p:spPr>
              <a:xfrm>
                <a:off x="2641874" y="3103007"/>
                <a:ext cx="1399875" cy="34769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脉冲压缩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22" name="Body-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584860" y="3695269"/>
                <a:ext cx="1513902" cy="155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用重构的</a:t>
                </a:r>
                <a:r>
                  <a:rPr kumimoji="0" lang="en-US" altLang="zh-CN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SSB</a:t>
                </a: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作为模板，实现距离维匹配滤波，保留位置信息的一致性，逐步提高信噪比。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3" name="2"/>
              <p:cNvSpPr/>
              <p:nvPr>
                <p:custDataLst>
                  <p:tags r:id="rId12"/>
                </p:custDataLst>
              </p:nvPr>
            </p:nvSpPr>
            <p:spPr>
              <a:xfrm rot="5400000">
                <a:off x="2347658" y="3209378"/>
                <a:ext cx="156540" cy="134949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190222" y="3103007"/>
              <a:ext cx="1740314" cy="1387556"/>
              <a:chOff x="4190222" y="3103007"/>
              <a:chExt cx="1740314" cy="1387556"/>
            </a:xfrm>
          </p:grpSpPr>
          <p:sp>
            <p:nvSpPr>
              <p:cNvPr id="17" name="Title-3"/>
              <p:cNvSpPr/>
              <p:nvPr>
                <p:custDataLst>
                  <p:tags r:id="rId13"/>
                </p:custDataLst>
              </p:nvPr>
            </p:nvSpPr>
            <p:spPr>
              <a:xfrm>
                <a:off x="4473647" y="3103007"/>
                <a:ext cx="1399875" cy="34769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b="1" dirty="0">
                    <a:latin typeface="+mn-ea"/>
                  </a:rPr>
                  <a:t>峰值对齐</a:t>
                </a:r>
                <a:endParaRPr kumimoji="1" lang="zh-CN" altLang="en-US" b="1" dirty="0">
                  <a:latin typeface="+mn-ea"/>
                </a:endParaRPr>
              </a:p>
            </p:txBody>
          </p:sp>
          <p:sp>
            <p:nvSpPr>
              <p:cNvPr id="18" name="Body-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416634" y="3695269"/>
                <a:ext cx="1513902" cy="795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kumimoji="0" lang="zh-CN" altLang="en-US" sz="2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消除脉冲间时间抖动，为相干积累做准备。</a:t>
                </a:r>
                <a:endParaRPr kumimoji="0" lang="zh-CN" altLang="en-US" sz="2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9" name="3"/>
              <p:cNvSpPr/>
              <p:nvPr>
                <p:custDataLst>
                  <p:tags r:id="rId15"/>
                </p:custDataLst>
              </p:nvPr>
            </p:nvSpPr>
            <p:spPr>
              <a:xfrm rot="5400000">
                <a:off x="4179427" y="3209378"/>
                <a:ext cx="156540" cy="134949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45" y="1715270"/>
            <a:ext cx="3798947" cy="4565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450" y="1715270"/>
            <a:ext cx="3958305" cy="4722679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6096000" y="1811867"/>
            <a:ext cx="0" cy="446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800010" y="3199446"/>
            <a:ext cx="4445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完整处理结果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726276" y="2479779"/>
            <a:ext cx="4445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没有逐级匹配处理结果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780780" y="49739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峰值发生明显偏移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②相位补偿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17600" y="1811259"/>
            <a:ext cx="101769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原理：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运动目标回波在脉冲间存在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非线性相位误差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，补偿后恢复线性相位变化；而杂波相位保持随机性。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通过特定函数对每个脉冲进行相位校正，消除时频非线性。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效果：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锐化多普勒频谱展宽，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提高速度分辨率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②相位补偿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041" y="2167483"/>
            <a:ext cx="5382848" cy="320886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758" y="2167483"/>
            <a:ext cx="5363426" cy="3208867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6062133" y="1832388"/>
            <a:ext cx="0" cy="446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226158" y="5599053"/>
            <a:ext cx="3218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相位补偿前多普勒</a:t>
            </a:r>
            <a:r>
              <a:rPr lang="en-US" altLang="zh-CN" dirty="0"/>
              <a:t>-</a:t>
            </a:r>
            <a:r>
              <a:rPr lang="zh-CN" altLang="en-US" dirty="0"/>
              <a:t>距离分布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7625890" y="5675252"/>
            <a:ext cx="3218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相位补偿后多普勒</a:t>
            </a:r>
            <a:r>
              <a:rPr lang="en-US" altLang="zh-CN" dirty="0"/>
              <a:t>-</a:t>
            </a:r>
            <a:r>
              <a:rPr lang="zh-CN" altLang="en-US" dirty="0"/>
              <a:t>距离分布</a:t>
            </a:r>
            <a:endParaRPr lang="zh-CN" altLang="en-US" dirty="0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③动目标显示（</a:t>
            </a:r>
            <a:r>
              <a:rPr lang="en-US" altLang="zh-CN" sz="2000" dirty="0">
                <a:solidFill>
                  <a:schemeClr val="tx1"/>
                </a:solidFill>
              </a:rPr>
              <a:t>MTI</a:t>
            </a:r>
            <a:r>
              <a:rPr lang="zh-CN" altLang="en-US" sz="2000" dirty="0">
                <a:solidFill>
                  <a:schemeClr val="tx1"/>
                </a:solidFill>
              </a:rPr>
              <a:t>）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83493" y="1601418"/>
            <a:ext cx="88869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原理：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静止目标回波在脉冲间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相位不变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，差分后抵消；而运动目标产生多普勒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相位变化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，差分后保留。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在慢时间维（脉冲间）进行离散差分，利用运动目标与静态杂波的频域差异进行对消。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效果：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消除静态杂波和高强度的直达波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，仅保留目标回波。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③动目标显示（</a:t>
            </a:r>
            <a:r>
              <a:rPr lang="en-US" altLang="zh-CN" sz="2000" dirty="0">
                <a:solidFill>
                  <a:schemeClr val="tx1"/>
                </a:solidFill>
              </a:rPr>
              <a:t>MTI</a:t>
            </a:r>
            <a:r>
              <a:rPr lang="zh-CN" altLang="en-US" sz="2000" dirty="0">
                <a:solidFill>
                  <a:schemeClr val="tx1"/>
                </a:solidFill>
              </a:rPr>
              <a:t>）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142" y="1731342"/>
            <a:ext cx="3065526" cy="36844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360334" y="1527641"/>
            <a:ext cx="0" cy="446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25" y="1731341"/>
            <a:ext cx="3161396" cy="36747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56267" y="5737211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</a:t>
            </a:r>
            <a:r>
              <a:rPr lang="en-US" altLang="zh-CN" dirty="0"/>
              <a:t>MTI</a:t>
            </a:r>
            <a:r>
              <a:rPr lang="zh-CN" altLang="en-US" dirty="0"/>
              <a:t>处理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5440504" y="5627597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一阶</a:t>
            </a:r>
            <a:r>
              <a:rPr lang="en-US" altLang="zh-CN" dirty="0"/>
              <a:t>MTI</a:t>
            </a:r>
            <a:r>
              <a:rPr lang="zh-CN" altLang="en-US" dirty="0"/>
              <a:t>处理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9208767" y="5627597"/>
            <a:ext cx="235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自适应</a:t>
            </a:r>
            <a:r>
              <a:rPr lang="en-US" altLang="zh-CN" dirty="0"/>
              <a:t>MTI</a:t>
            </a:r>
            <a:r>
              <a:rPr lang="zh-CN" altLang="en-US" dirty="0"/>
              <a:t>处理</a:t>
            </a:r>
            <a:endParaRPr lang="zh-CN" altLang="en-US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1579" y="1731341"/>
            <a:ext cx="3026986" cy="3674750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>
            <a:off x="8255000" y="1527641"/>
            <a:ext cx="0" cy="446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384935" y="2961005"/>
            <a:ext cx="1632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直达波强度大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④自适应</a:t>
            </a:r>
            <a:r>
              <a:rPr lang="en-US" altLang="zh-CN" sz="2000" dirty="0">
                <a:solidFill>
                  <a:schemeClr val="tx1"/>
                </a:solidFill>
              </a:rPr>
              <a:t>LMS</a:t>
            </a:r>
            <a:r>
              <a:rPr lang="zh-CN" altLang="en-US" sz="2000" dirty="0">
                <a:solidFill>
                  <a:schemeClr val="tx1"/>
                </a:solidFill>
              </a:rPr>
              <a:t>滤波与小波滤波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683" y="1744744"/>
            <a:ext cx="3766956" cy="4486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43" y="1702410"/>
            <a:ext cx="3705477" cy="445354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842191" y="1832388"/>
            <a:ext cx="0" cy="4469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818800" y="3223145"/>
            <a:ext cx="444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降噪前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453868" y="3253834"/>
            <a:ext cx="444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降噪后</a:t>
            </a:r>
            <a:endParaRPr lang="zh-CN" altLang="en-US" dirty="0"/>
          </a:p>
        </p:txBody>
      </p:sp>
      <p:sp>
        <p:nvSpPr>
          <p:cNvPr id="3" name="流程图: 联系 2"/>
          <p:cNvSpPr/>
          <p:nvPr/>
        </p:nvSpPr>
        <p:spPr>
          <a:xfrm>
            <a:off x="1671320" y="3429000"/>
            <a:ext cx="2402205" cy="1122680"/>
          </a:xfrm>
          <a:prstGeom prst="flowChartConnector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750300" y="36061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提高信噪比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抑制杂波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⑤非相参积累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3441" y="1817614"/>
            <a:ext cx="10176932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原理：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目标回波在距离维能量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稳定积累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噪声能量随机起伏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在快时间维对多脉冲匹配滤波结果进行幅度叠加（非相干求和）。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效果：</a:t>
            </a:r>
            <a:endParaRPr lang="zh-CN" altLang="en-US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增强微弱目标的距离像信杂比（信号与杂波加噪声比）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2941574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005124" y="8949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2408172" y="1472592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218320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⑤非相参积累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" t="9588" r="6921" b="3496"/>
          <a:stretch>
            <a:fillRect/>
          </a:stretch>
        </p:blipFill>
        <p:spPr>
          <a:xfrm>
            <a:off x="1506220" y="1472565"/>
            <a:ext cx="8049895" cy="4305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99935" y="5792843"/>
            <a:ext cx="6341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非相参处理（左）与加窗后非相参处理（右）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158490" y="2701925"/>
            <a:ext cx="209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/>
                </a:solidFill>
              </a:rPr>
              <a:t>加窗抑制旁瓣</a:t>
            </a:r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562225" y="3106420"/>
            <a:ext cx="2263775" cy="118808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817735" y="3070225"/>
            <a:ext cx="16332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对目标检测效果</a:t>
            </a:r>
            <a:r>
              <a:rPr lang="zh-CN" altLang="en-US"/>
              <a:t>提升微弱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12" name="矩形 11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项目进展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02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2632267" y="1601418"/>
            <a:ext cx="7318784" cy="1168400"/>
            <a:chOff x="10997387" y="124473"/>
            <a:chExt cx="7318784" cy="1168400"/>
          </a:xfrm>
        </p:grpSpPr>
        <p:grpSp>
          <p:nvGrpSpPr>
            <p:cNvPr id="15" name="组合 14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1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0" name="TextBox 2"/>
            <p:cNvSpPr txBox="1"/>
            <p:nvPr>
              <p:custDataLst>
                <p:tags r:id="rId2"/>
              </p:custDataLst>
            </p:nvPr>
          </p:nvSpPr>
          <p:spPr>
            <a:xfrm>
              <a:off x="10997387" y="253299"/>
              <a:ext cx="52810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信号采集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硬件搭建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2632267" y="2951904"/>
            <a:ext cx="7324080" cy="1168400"/>
            <a:chOff x="10997387" y="124473"/>
            <a:chExt cx="7324080" cy="1168400"/>
          </a:xfrm>
        </p:grpSpPr>
        <p:grpSp>
          <p:nvGrpSpPr>
            <p:cNvPr id="43" name="组合 42"/>
            <p:cNvGrpSpPr/>
            <p:nvPr/>
          </p:nvGrpSpPr>
          <p:grpSpPr>
            <a:xfrm>
              <a:off x="10997387" y="124473"/>
              <a:ext cx="7324080" cy="1168400"/>
              <a:chOff x="7266752" y="264481"/>
              <a:chExt cx="7324080" cy="1168400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7272048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1" i="0" u="none" strike="noStrike" kern="1200" cap="none" spc="200" normalizeH="0" baseline="0" noProof="0" dirty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2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4" name="TextBox 2"/>
            <p:cNvSpPr txBox="1"/>
            <p:nvPr>
              <p:custDataLst>
                <p:tags r:id="rId4"/>
              </p:custDataLst>
            </p:nvPr>
          </p:nvSpPr>
          <p:spPr>
            <a:xfrm>
              <a:off x="10997387" y="253299"/>
              <a:ext cx="5001673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核心算法处理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769372" y="111625"/>
            <a:ext cx="7460611" cy="1168400"/>
            <a:chOff x="10855560" y="124473"/>
            <a:chExt cx="7460611" cy="1168400"/>
          </a:xfrm>
        </p:grpSpPr>
        <p:grpSp>
          <p:nvGrpSpPr>
            <p:cNvPr id="48" name="组合 47"/>
            <p:cNvGrpSpPr/>
            <p:nvPr/>
          </p:nvGrpSpPr>
          <p:grpSpPr>
            <a:xfrm>
              <a:off x="10997387" y="124473"/>
              <a:ext cx="7318784" cy="1168400"/>
              <a:chOff x="7266752" y="264481"/>
              <a:chExt cx="7318784" cy="1168400"/>
            </a:xfrm>
          </p:grpSpPr>
          <p:sp>
            <p:nvSpPr>
              <p:cNvPr id="50" name="矩形: 圆角 49"/>
              <p:cNvSpPr/>
              <p:nvPr/>
            </p:nvSpPr>
            <p:spPr>
              <a:xfrm>
                <a:off x="7266752" y="264481"/>
                <a:ext cx="7318784" cy="1168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>
                <a:outerShdw blurRad="50800" dist="38100" dir="5400000" sx="102000" sy="102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266752" y="350365"/>
                <a:ext cx="1362653" cy="99663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4800" b="1" spc="200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  <a:sym typeface="+mn-lt"/>
                  </a:rPr>
                  <a:t>3</a:t>
                </a:r>
                <a:endParaRPr kumimoji="0" lang="en-US" altLang="zh-CN" sz="4800" b="1" i="0" u="none" strike="noStrike" kern="1200" cap="none" spc="2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endParaRPr>
              </a:p>
            </p:txBody>
          </p:sp>
        </p:grpSp>
        <p:sp>
          <p:nvSpPr>
            <p:cNvPr id="49" name="TextBox 2"/>
            <p:cNvSpPr txBox="1"/>
            <p:nvPr>
              <p:custDataLst>
                <p:tags r:id="rId6"/>
              </p:custDataLst>
            </p:nvPr>
          </p:nvSpPr>
          <p:spPr>
            <a:xfrm>
              <a:off x="10855560" y="253299"/>
              <a:ext cx="4896585" cy="9966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solidFill>
                    <a:srgbClr val="000000"/>
                  </a:solidFill>
                  <a:latin typeface="Arial" panose="020B0604020202020204"/>
                  <a:ea typeface="微软雅黑" panose="020B0503020204020204" pitchFamily="34" charset="-122"/>
                </a:rPr>
                <a:t>软件平台搭建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444684" y="-1525816"/>
            <a:ext cx="2172687" cy="9966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2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非相参积累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41704" y="5961498"/>
            <a:ext cx="434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python</a:t>
            </a:r>
            <a:r>
              <a:rPr lang="zh-CN" altLang="zh-CN" sz="24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可视化程序的基础版本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0920" y="1384300"/>
            <a:ext cx="4394200" cy="4571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25155" y="2639695"/>
            <a:ext cx="3328670" cy="1645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现仅为测试版，后续会开发面向用户的功能并打包为</a:t>
            </a:r>
            <a:r>
              <a:rPr lang="zh-CN" altLang="en-US"/>
              <a:t>软件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27455"/>
            <a:ext cx="12192000" cy="43224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8" name="图片 7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9453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2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03</a:t>
            </a:r>
            <a:endParaRPr kumimoji="0" lang="en-US" altLang="zh-CN" sz="7200" b="1" i="0" u="none" strike="noStrike" kern="1200" cap="none" spc="2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611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存在问题与解决方案</a:t>
            </a:r>
            <a:endParaRPr kumimoji="0" lang="zh-CN" altLang="en-US" sz="3200" b="1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8" name="图片 17" descr="logo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2663190"/>
            <a:ext cx="2785745" cy="1563370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4196080" y="2765425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1227455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5513901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 rot="10800000">
            <a:off x="5790563" y="-27360"/>
            <a:ext cx="6401437" cy="685799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52400" dist="38100" dir="2700000" sx="102000" sy="102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225218" y="350365"/>
            <a:ext cx="3114116" cy="646658"/>
            <a:chOff x="516465" y="326968"/>
            <a:chExt cx="3114116" cy="646658"/>
          </a:xfrm>
        </p:grpSpPr>
        <p:sp>
          <p:nvSpPr>
            <p:cNvPr id="4" name="矩形 3"/>
            <p:cNvSpPr/>
            <p:nvPr/>
          </p:nvSpPr>
          <p:spPr>
            <a:xfrm>
              <a:off x="1137591" y="450242"/>
              <a:ext cx="24929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存在问题与解决方案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03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6324011" y="5199821"/>
            <a:ext cx="5416460" cy="376555"/>
            <a:chOff x="2362200" y="2739782"/>
            <a:chExt cx="4063403" cy="282416"/>
          </a:xfrm>
        </p:grpSpPr>
        <p:sp>
          <p:nvSpPr>
            <p:cNvPr id="8" name="Title 13"/>
            <p:cNvSpPr txBox="1"/>
            <p:nvPr/>
          </p:nvSpPr>
          <p:spPr>
            <a:xfrm>
              <a:off x="2586431" y="2739782"/>
              <a:ext cx="3839172" cy="282416"/>
            </a:xfrm>
            <a:prstGeom prst="rect">
              <a:avLst/>
            </a:prstGeom>
          </p:spPr>
          <p:txBody>
            <a:bodyPr vert="horz" wrap="square" lIns="45720" tIns="22860" rIns="45720" bIns="2286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r>
                <a:rPr lang="zh-CN" altLang="en-US" sz="215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后续需要调试代码，提高内存的利用率</a:t>
              </a:r>
              <a:r>
                <a:rPr lang="en-US" altLang="zh-CN" sz="215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。</a:t>
              </a:r>
              <a:endParaRPr lang="en-US" altLang="zh-CN" sz="215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0" name="Group 14"/>
            <p:cNvGrpSpPr/>
            <p:nvPr/>
          </p:nvGrpSpPr>
          <p:grpSpPr>
            <a:xfrm>
              <a:off x="2362200" y="2780546"/>
              <a:ext cx="237626" cy="237626"/>
              <a:chOff x="2609260" y="2989019"/>
              <a:chExt cx="475253" cy="475253"/>
            </a:xfrm>
          </p:grpSpPr>
          <p:sp>
            <p:nvSpPr>
              <p:cNvPr id="11" name="Oval 15"/>
              <p:cNvSpPr/>
              <p:nvPr/>
            </p:nvSpPr>
            <p:spPr>
              <a:xfrm>
                <a:off x="2609260" y="2989019"/>
                <a:ext cx="475253" cy="47525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Freeform 16"/>
              <p:cNvSpPr/>
              <p:nvPr/>
            </p:nvSpPr>
            <p:spPr bwMode="auto">
              <a:xfrm>
                <a:off x="2752030" y="3120652"/>
                <a:ext cx="189738" cy="196776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" name="Group 24"/>
          <p:cNvGrpSpPr/>
          <p:nvPr/>
        </p:nvGrpSpPr>
        <p:grpSpPr>
          <a:xfrm>
            <a:off x="6324011" y="3234747"/>
            <a:ext cx="5416460" cy="707390"/>
            <a:chOff x="2362200" y="1625322"/>
            <a:chExt cx="4063403" cy="530542"/>
          </a:xfrm>
        </p:grpSpPr>
        <p:sp>
          <p:nvSpPr>
            <p:cNvPr id="15" name="Title 13"/>
            <p:cNvSpPr txBox="1"/>
            <p:nvPr/>
          </p:nvSpPr>
          <p:spPr>
            <a:xfrm>
              <a:off x="2586431" y="1625322"/>
              <a:ext cx="3839172" cy="530542"/>
            </a:xfrm>
            <a:prstGeom prst="rect">
              <a:avLst/>
            </a:prstGeom>
          </p:spPr>
          <p:txBody>
            <a:bodyPr vert="horz" lIns="45720" tIns="22860" rIns="45720" bIns="2286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r>
                <a:rPr lang="zh-CN" altLang="en-US" sz="215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后续需要发掘非相参处理的其他应用方式或改变思路。</a:t>
              </a:r>
              <a:r>
                <a:rPr lang="en-US" altLang="zh-CN" sz="215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  <a:endParaRPr lang="en-US" altLang="zh-CN" sz="215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6" name="Group 17"/>
            <p:cNvGrpSpPr/>
            <p:nvPr/>
          </p:nvGrpSpPr>
          <p:grpSpPr>
            <a:xfrm>
              <a:off x="2362200" y="1856182"/>
              <a:ext cx="237626" cy="237626"/>
              <a:chOff x="2609260" y="2989019"/>
              <a:chExt cx="475253" cy="475253"/>
            </a:xfrm>
          </p:grpSpPr>
          <p:sp>
            <p:nvSpPr>
              <p:cNvPr id="17" name="Oval 18"/>
              <p:cNvSpPr/>
              <p:nvPr/>
            </p:nvSpPr>
            <p:spPr>
              <a:xfrm>
                <a:off x="2609260" y="2989019"/>
                <a:ext cx="475253" cy="47525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8" name="Freeform 19"/>
              <p:cNvSpPr/>
              <p:nvPr/>
            </p:nvSpPr>
            <p:spPr bwMode="auto">
              <a:xfrm>
                <a:off x="2752030" y="3120652"/>
                <a:ext cx="189738" cy="196776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Group 25"/>
          <p:cNvGrpSpPr/>
          <p:nvPr/>
        </p:nvGrpSpPr>
        <p:grpSpPr>
          <a:xfrm>
            <a:off x="6324011" y="1600036"/>
            <a:ext cx="5416461" cy="377026"/>
            <a:chOff x="2362200" y="1057275"/>
            <a:chExt cx="4063403" cy="282770"/>
          </a:xfrm>
        </p:grpSpPr>
        <p:sp>
          <p:nvSpPr>
            <p:cNvPr id="20" name="Title 13"/>
            <p:cNvSpPr txBox="1"/>
            <p:nvPr/>
          </p:nvSpPr>
          <p:spPr>
            <a:xfrm>
              <a:off x="2586431" y="1057275"/>
              <a:ext cx="3839172" cy="282770"/>
            </a:xfrm>
            <a:prstGeom prst="rect">
              <a:avLst/>
            </a:prstGeom>
          </p:spPr>
          <p:txBody>
            <a:bodyPr vert="horz" lIns="45720" tIns="22860" rIns="45720" bIns="22860" rtlCol="0" anchor="ctr">
              <a:sp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r>
                <a:rPr lang="zh-CN" altLang="en-US" sz="215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后续以目前的软件平台为基础持续开发。</a:t>
              </a:r>
              <a:endParaRPr lang="en-US" sz="215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2362200" y="1098214"/>
              <a:ext cx="237626" cy="237626"/>
              <a:chOff x="2609260" y="2989019"/>
              <a:chExt cx="475253" cy="475253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609260" y="2989019"/>
                <a:ext cx="475253" cy="47525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22"/>
              <p:cNvSpPr/>
              <p:nvPr/>
            </p:nvSpPr>
            <p:spPr bwMode="auto">
              <a:xfrm>
                <a:off x="2752030" y="3120652"/>
                <a:ext cx="189738" cy="196776"/>
              </a:xfrm>
              <a:custGeom>
                <a:avLst/>
                <a:gdLst>
                  <a:gd name="T0" fmla="*/ 103 w 274"/>
                  <a:gd name="T1" fmla="*/ 284 h 284"/>
                  <a:gd name="T2" fmla="*/ 80 w 274"/>
                  <a:gd name="T3" fmla="*/ 273 h 284"/>
                  <a:gd name="T4" fmla="*/ 9 w 274"/>
                  <a:gd name="T5" fmla="*/ 178 h 284"/>
                  <a:gd name="T6" fmla="*/ 14 w 274"/>
                  <a:gd name="T7" fmla="*/ 139 h 284"/>
                  <a:gd name="T8" fmla="*/ 53 w 274"/>
                  <a:gd name="T9" fmla="*/ 145 h 284"/>
                  <a:gd name="T10" fmla="*/ 100 w 274"/>
                  <a:gd name="T11" fmla="*/ 207 h 284"/>
                  <a:gd name="T12" fmla="*/ 219 w 274"/>
                  <a:gd name="T13" fmla="*/ 17 h 284"/>
                  <a:gd name="T14" fmla="*/ 257 w 274"/>
                  <a:gd name="T15" fmla="*/ 8 h 284"/>
                  <a:gd name="T16" fmla="*/ 266 w 274"/>
                  <a:gd name="T17" fmla="*/ 47 h 284"/>
                  <a:gd name="T18" fmla="*/ 126 w 274"/>
                  <a:gd name="T19" fmla="*/ 271 h 284"/>
                  <a:gd name="T20" fmla="*/ 104 w 274"/>
                  <a:gd name="T21" fmla="*/ 284 h 284"/>
                  <a:gd name="T22" fmla="*/ 103 w 274"/>
                  <a:gd name="T23" fmla="*/ 284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74" h="284">
                    <a:moveTo>
                      <a:pt x="103" y="284"/>
                    </a:moveTo>
                    <a:cubicBezTo>
                      <a:pt x="94" y="284"/>
                      <a:pt x="86" y="280"/>
                      <a:pt x="80" y="273"/>
                    </a:cubicBezTo>
                    <a:cubicBezTo>
                      <a:pt x="9" y="178"/>
                      <a:pt x="9" y="178"/>
                      <a:pt x="9" y="178"/>
                    </a:cubicBezTo>
                    <a:cubicBezTo>
                      <a:pt x="0" y="166"/>
                      <a:pt x="2" y="149"/>
                      <a:pt x="14" y="139"/>
                    </a:cubicBezTo>
                    <a:cubicBezTo>
                      <a:pt x="27" y="130"/>
                      <a:pt x="44" y="133"/>
                      <a:pt x="53" y="145"/>
                    </a:cubicBezTo>
                    <a:cubicBezTo>
                      <a:pt x="100" y="207"/>
                      <a:pt x="100" y="207"/>
                      <a:pt x="100" y="207"/>
                    </a:cubicBezTo>
                    <a:cubicBezTo>
                      <a:pt x="219" y="17"/>
                      <a:pt x="219" y="17"/>
                      <a:pt x="219" y="17"/>
                    </a:cubicBezTo>
                    <a:cubicBezTo>
                      <a:pt x="227" y="4"/>
                      <a:pt x="244" y="0"/>
                      <a:pt x="257" y="8"/>
                    </a:cubicBezTo>
                    <a:cubicBezTo>
                      <a:pt x="270" y="16"/>
                      <a:pt x="274" y="33"/>
                      <a:pt x="266" y="47"/>
                    </a:cubicBezTo>
                    <a:cubicBezTo>
                      <a:pt x="126" y="271"/>
                      <a:pt x="126" y="271"/>
                      <a:pt x="126" y="271"/>
                    </a:cubicBezTo>
                    <a:cubicBezTo>
                      <a:pt x="121" y="279"/>
                      <a:pt x="113" y="283"/>
                      <a:pt x="104" y="284"/>
                    </a:cubicBezTo>
                    <a:cubicBezTo>
                      <a:pt x="104" y="284"/>
                      <a:pt x="103" y="284"/>
                      <a:pt x="103" y="2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900" dirty="0">
                  <a:solidFill>
                    <a:srgbClr val="4BD7FF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577390" y="1470411"/>
            <a:ext cx="4857652" cy="923330"/>
            <a:chOff x="577390" y="1271888"/>
            <a:chExt cx="4857652" cy="923330"/>
          </a:xfrm>
        </p:grpSpPr>
        <p:grpSp>
          <p:nvGrpSpPr>
            <p:cNvPr id="2" name="组合 1"/>
            <p:cNvGrpSpPr/>
            <p:nvPr/>
          </p:nvGrpSpPr>
          <p:grpSpPr>
            <a:xfrm>
              <a:off x="577390" y="1364823"/>
              <a:ext cx="4129333" cy="620430"/>
              <a:chOff x="5442857" y="3574143"/>
              <a:chExt cx="4129333" cy="620430"/>
            </a:xfrm>
          </p:grpSpPr>
          <p:pic>
            <p:nvPicPr>
              <p:cNvPr id="7" name="图形 6" descr="感叹号 纯色填充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42857" y="3574143"/>
                <a:ext cx="522514" cy="522514"/>
              </a:xfrm>
              <a:prstGeom prst="rect">
                <a:avLst/>
              </a:prstGeom>
            </p:spPr>
          </p:pic>
          <p:grpSp>
            <p:nvGrpSpPr>
              <p:cNvPr id="9" name="组合 8"/>
              <p:cNvGrpSpPr/>
              <p:nvPr/>
            </p:nvGrpSpPr>
            <p:grpSpPr>
              <a:xfrm>
                <a:off x="6236171" y="3589116"/>
                <a:ext cx="3336019" cy="605457"/>
                <a:chOff x="784353" y="5294424"/>
                <a:chExt cx="3336019" cy="605457"/>
              </a:xfrm>
            </p:grpSpPr>
            <p:sp>
              <p:nvSpPr>
                <p:cNvPr id="12" name="矩形 11"/>
                <p:cNvSpPr/>
                <p:nvPr/>
              </p:nvSpPr>
              <p:spPr>
                <a:xfrm>
                  <a:off x="792790" y="5590886"/>
                  <a:ext cx="3327582" cy="308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endPara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784353" y="5294424"/>
                  <a:ext cx="238841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endParaRPr lang="zh-CN" altLang="en-US" sz="2400" dirty="0"/>
                </a:p>
              </p:txBody>
            </p:sp>
          </p:grpSp>
        </p:grpSp>
        <p:sp>
          <p:nvSpPr>
            <p:cNvPr id="37" name="文本框 36"/>
            <p:cNvSpPr txBox="1"/>
            <p:nvPr/>
          </p:nvSpPr>
          <p:spPr>
            <a:xfrm>
              <a:off x="1099904" y="1271888"/>
              <a:ext cx="433513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软件平台目前还处于测试阶段，识别准确性不够且功能局限。后续需要以此为基础持续开发。</a:t>
              </a:r>
              <a:endParaRPr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7390" y="3359542"/>
            <a:ext cx="4985210" cy="699760"/>
            <a:chOff x="577390" y="2537857"/>
            <a:chExt cx="4985210" cy="699760"/>
          </a:xfrm>
        </p:grpSpPr>
        <p:sp>
          <p:nvSpPr>
            <p:cNvPr id="39" name="文本框 38"/>
            <p:cNvSpPr txBox="1"/>
            <p:nvPr/>
          </p:nvSpPr>
          <p:spPr>
            <a:xfrm>
              <a:off x="1099904" y="2537857"/>
              <a:ext cx="446269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非相参处理在提升鲁棒性上效果平庸，非</a:t>
              </a:r>
              <a:r>
                <a:rPr lang="en-US" altLang="zh-CN" dirty="0"/>
                <a:t>5G</a:t>
              </a:r>
              <a:r>
                <a:rPr lang="zh-CN" altLang="en-US" dirty="0"/>
                <a:t>信号对目标检测效果提升微弱。</a:t>
              </a:r>
              <a:endParaRPr lang="zh-CN" altLang="en-US" dirty="0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577390" y="2617187"/>
              <a:ext cx="4129333" cy="620430"/>
              <a:chOff x="5442857" y="3574143"/>
              <a:chExt cx="4129333" cy="620430"/>
            </a:xfrm>
          </p:grpSpPr>
          <p:pic>
            <p:nvPicPr>
              <p:cNvPr id="41" name="图形 40" descr="感叹号 纯色填充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42857" y="3574143"/>
                <a:ext cx="522514" cy="522514"/>
              </a:xfrm>
              <a:prstGeom prst="rect">
                <a:avLst/>
              </a:prstGeom>
            </p:spPr>
          </p:pic>
          <p:grpSp>
            <p:nvGrpSpPr>
              <p:cNvPr id="42" name="组合 41"/>
              <p:cNvGrpSpPr/>
              <p:nvPr/>
            </p:nvGrpSpPr>
            <p:grpSpPr>
              <a:xfrm>
                <a:off x="6236171" y="3589116"/>
                <a:ext cx="3336019" cy="605457"/>
                <a:chOff x="784353" y="5294424"/>
                <a:chExt cx="3336019" cy="605457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792790" y="5590886"/>
                  <a:ext cx="3327582" cy="308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endPara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784353" y="5294424"/>
                  <a:ext cx="238841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endParaRPr lang="zh-CN" altLang="en-US" sz="2400" dirty="0"/>
                </a:p>
              </p:txBody>
            </p:sp>
          </p:grpSp>
        </p:grpSp>
      </p:grpSp>
      <p:grpSp>
        <p:nvGrpSpPr>
          <p:cNvPr id="28" name="组合 27"/>
          <p:cNvGrpSpPr/>
          <p:nvPr/>
        </p:nvGrpSpPr>
        <p:grpSpPr>
          <a:xfrm>
            <a:off x="577390" y="5025102"/>
            <a:ext cx="4991554" cy="923330"/>
            <a:chOff x="577390" y="4826579"/>
            <a:chExt cx="4991554" cy="923330"/>
          </a:xfrm>
        </p:grpSpPr>
        <p:grpSp>
          <p:nvGrpSpPr>
            <p:cNvPr id="45" name="组合 44"/>
            <p:cNvGrpSpPr/>
            <p:nvPr/>
          </p:nvGrpSpPr>
          <p:grpSpPr>
            <a:xfrm>
              <a:off x="577390" y="4970664"/>
              <a:ext cx="4129333" cy="620430"/>
              <a:chOff x="5442857" y="3574143"/>
              <a:chExt cx="4129333" cy="620430"/>
            </a:xfrm>
          </p:grpSpPr>
          <p:pic>
            <p:nvPicPr>
              <p:cNvPr id="46" name="图形 45" descr="感叹号 纯色填充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5442857" y="3574143"/>
                <a:ext cx="522514" cy="522514"/>
              </a:xfrm>
              <a:prstGeom prst="rect">
                <a:avLst/>
              </a:prstGeom>
            </p:spPr>
          </p:pic>
          <p:grpSp>
            <p:nvGrpSpPr>
              <p:cNvPr id="47" name="组合 46"/>
              <p:cNvGrpSpPr/>
              <p:nvPr/>
            </p:nvGrpSpPr>
            <p:grpSpPr>
              <a:xfrm>
                <a:off x="6236171" y="3589116"/>
                <a:ext cx="3336019" cy="605457"/>
                <a:chOff x="784353" y="5294424"/>
                <a:chExt cx="3336019" cy="605457"/>
              </a:xfrm>
            </p:grpSpPr>
            <p:sp>
              <p:nvSpPr>
                <p:cNvPr id="48" name="矩形 47"/>
                <p:cNvSpPr/>
                <p:nvPr/>
              </p:nvSpPr>
              <p:spPr>
                <a:xfrm>
                  <a:off x="792790" y="5590886"/>
                  <a:ext cx="3327582" cy="308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endParaRPr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784353" y="5294424"/>
                  <a:ext cx="238841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endParaRPr lang="zh-CN" altLang="en-US" sz="2400" dirty="0"/>
                </a:p>
              </p:txBody>
            </p:sp>
          </p:grpSp>
        </p:grpSp>
        <p:sp>
          <p:nvSpPr>
            <p:cNvPr id="53" name="文本框 52"/>
            <p:cNvSpPr txBox="1"/>
            <p:nvPr/>
          </p:nvSpPr>
          <p:spPr>
            <a:xfrm>
              <a:off x="1087336" y="4826579"/>
              <a:ext cx="448160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受实验电脑性能局限，全短时间的信号无法保留，所有信号都进行了一定的截断处理，因此多普勒分辨率低于预期。</a:t>
              </a:r>
              <a:endParaRPr lang="zh-CN" altLang="en-US" dirty="0"/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227455"/>
            <a:ext cx="12192000" cy="43224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-1530350"/>
            <a:ext cx="4729480" cy="4364355"/>
          </a:xfrm>
          <a:prstGeom prst="rect">
            <a:avLst/>
          </a:prstGeom>
        </p:spPr>
      </p:pic>
      <p:pic>
        <p:nvPicPr>
          <p:cNvPr id="8" name="图片 7" descr="logo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900000">
            <a:off x="6692900" y="4015740"/>
            <a:ext cx="4729480" cy="4364355"/>
          </a:xfrm>
          <a:prstGeom prst="rect">
            <a:avLst/>
          </a:prstGeom>
        </p:spPr>
      </p:pic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945380" y="2826068"/>
            <a:ext cx="1487170" cy="124079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2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lt"/>
              </a:rPr>
              <a:t>04</a:t>
            </a:r>
            <a:endParaRPr kumimoji="0" lang="en-US" altLang="zh-CN" sz="7200" b="1" i="0" u="none" strike="noStrike" kern="1200" cap="none" spc="2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标题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61124" y="2977833"/>
            <a:ext cx="4914265" cy="83566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rPr>
              <a:t>进度安排与经费使用</a:t>
            </a:r>
            <a:endParaRPr kumimoji="0" lang="zh-CN" altLang="en-US" sz="3200" b="1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18" name="图片 17" descr="logo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90" y="2663190"/>
            <a:ext cx="2785745" cy="1563370"/>
          </a:xfrm>
          <a:prstGeom prst="rect">
            <a:avLst/>
          </a:prstGeom>
        </p:spPr>
      </p:pic>
      <p:cxnSp>
        <p:nvCxnSpPr>
          <p:cNvPr id="19" name="直接连接符 18"/>
          <p:cNvCxnSpPr/>
          <p:nvPr/>
        </p:nvCxnSpPr>
        <p:spPr>
          <a:xfrm>
            <a:off x="4196080" y="2765425"/>
            <a:ext cx="0" cy="1451610"/>
          </a:xfrm>
          <a:prstGeom prst="line">
            <a:avLst/>
          </a:prstGeom>
          <a:ln w="9525">
            <a:solidFill>
              <a:srgbClr val="BD9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1227455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5513901"/>
            <a:ext cx="12191997" cy="36000"/>
          </a:xfrm>
          <a:prstGeom prst="rect">
            <a:avLst/>
          </a:prstGeom>
          <a:solidFill>
            <a:srgbClr val="BD9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4" name="矩形 3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进度安排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03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75484" y="391701"/>
            <a:ext cx="2679366" cy="558719"/>
            <a:chOff x="4375484" y="391701"/>
            <a:chExt cx="2679366" cy="558719"/>
          </a:xfrm>
        </p:grpSpPr>
        <p:sp>
          <p:nvSpPr>
            <p:cNvPr id="6" name="流程图: 离页连接符 5"/>
            <p:cNvSpPr/>
            <p:nvPr/>
          </p:nvSpPr>
          <p:spPr>
            <a:xfrm rot="5400000">
              <a:off x="5438441" y="-665989"/>
              <a:ext cx="553452" cy="267936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24037" y="391701"/>
              <a:ext cx="2046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已完成进度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75484" y="-852899"/>
            <a:ext cx="2977816" cy="558719"/>
            <a:chOff x="4375484" y="391701"/>
            <a:chExt cx="2977816" cy="558719"/>
          </a:xfrm>
        </p:grpSpPr>
        <p:sp>
          <p:nvSpPr>
            <p:cNvPr id="16" name="流程图: 离页连接符 15"/>
            <p:cNvSpPr/>
            <p:nvPr/>
          </p:nvSpPr>
          <p:spPr>
            <a:xfrm rot="5400000">
              <a:off x="5587666" y="-815214"/>
              <a:ext cx="553452" cy="297781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924037" y="391701"/>
              <a:ext cx="2429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未来进度安排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7052" y="1893537"/>
            <a:ext cx="11155058" cy="3540826"/>
            <a:chOff x="958363" y="1861787"/>
            <a:chExt cx="6786761" cy="3540826"/>
          </a:xfrm>
        </p:grpSpPr>
        <p:grpSp>
          <p:nvGrpSpPr>
            <p:cNvPr id="97" name="组合 96"/>
            <p:cNvGrpSpPr/>
            <p:nvPr/>
          </p:nvGrpSpPr>
          <p:grpSpPr>
            <a:xfrm>
              <a:off x="958363" y="1861787"/>
              <a:ext cx="1543863" cy="3540826"/>
              <a:chOff x="958363" y="1861787"/>
              <a:chExt cx="1543863" cy="3540826"/>
            </a:xfrm>
          </p:grpSpPr>
          <p:sp>
            <p:nvSpPr>
              <p:cNvPr id="116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58363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7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958363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2024/10/28-2024/11/17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8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58363" y="2658245"/>
                <a:ext cx="1543863" cy="2305888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完成资料调研，确定</a:t>
                </a:r>
                <a:r>
                  <a:rPr lang="en-US" altLang="zh-CN" sz="1600" b="0" i="0" dirty="0">
                    <a:effectLst/>
                    <a:latin typeface="PingFang SC"/>
                  </a:rPr>
                  <a:t>5G SSB</a:t>
                </a:r>
                <a:r>
                  <a:rPr lang="zh-CN" altLang="en-US" sz="1600" b="0" i="0" dirty="0">
                    <a:effectLst/>
                    <a:latin typeface="PingFang SC"/>
                  </a:rPr>
                  <a:t>信号作为主要照射源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确定系统参数：中心频率</a:t>
                </a:r>
                <a:r>
                  <a:rPr lang="en-US" altLang="zh-CN" sz="1600" b="0" i="0" dirty="0">
                    <a:effectLst/>
                    <a:latin typeface="PingFang SC"/>
                  </a:rPr>
                  <a:t>2.52495GHz</a:t>
                </a:r>
                <a:r>
                  <a:rPr lang="zh-CN" altLang="en-US" sz="1600" b="0" i="0" dirty="0">
                    <a:effectLst/>
                    <a:latin typeface="PingFang SC"/>
                  </a:rPr>
                  <a:t>，采样率</a:t>
                </a:r>
                <a:r>
                  <a:rPr lang="en-US" altLang="zh-CN" sz="1600" b="0" i="0" dirty="0">
                    <a:effectLst/>
                    <a:latin typeface="PingFang SC"/>
                  </a:rPr>
                  <a:t>122.88MHz</a:t>
                </a: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702105" y="1861787"/>
              <a:ext cx="1543863" cy="3540826"/>
              <a:chOff x="2702105" y="1861787"/>
              <a:chExt cx="1543863" cy="3540826"/>
            </a:xfrm>
          </p:grpSpPr>
          <p:sp>
            <p:nvSpPr>
              <p:cNvPr id="111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2105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2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02105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2024/11/18-2024/12/8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3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02105" y="2658245"/>
                <a:ext cx="1543863" cy="262187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+mn-ea"/>
                  </a:rPr>
                  <a:t>✅ 搭建双通道采集系统（监测</a:t>
                </a:r>
                <a:r>
                  <a:rPr lang="en-US" altLang="zh-CN" sz="1600" dirty="0">
                    <a:latin typeface="+mn-ea"/>
                  </a:rPr>
                  <a:t>+</a:t>
                </a:r>
                <a:r>
                  <a:rPr lang="zh-CN" altLang="en-US" sz="1600" dirty="0">
                    <a:latin typeface="+mn-ea"/>
                  </a:rPr>
                  <a:t>参考通道）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endParaRPr lang="zh-CN" altLang="en-US" sz="1600" dirty="0"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+mn-ea"/>
                  </a:rPr>
                  <a:t>✅ 首次收发实验验证数据同步性</a:t>
                </a:r>
                <a:endParaRPr lang="en-US" altLang="zh-CN" sz="1600" dirty="0"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endParaRPr lang="zh-CN" altLang="en-US" sz="1600" dirty="0">
                  <a:latin typeface="+mn-ea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+mn-ea"/>
                  </a:rPr>
                  <a:t>✅ 开发二进制数据读取函数 </a:t>
                </a: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4447081" y="1861787"/>
              <a:ext cx="1554301" cy="3540826"/>
              <a:chOff x="4447081" y="1861787"/>
              <a:chExt cx="1554301" cy="3540826"/>
            </a:xfrm>
          </p:grpSpPr>
          <p:sp>
            <p:nvSpPr>
              <p:cNvPr id="106" name="3"/>
              <p:cNvSpPr/>
              <p:nvPr>
                <p:custDataLst>
                  <p:tags r:id="rId8"/>
                </p:custDataLst>
              </p:nvPr>
            </p:nvSpPr>
            <p:spPr>
              <a:xfrm>
                <a:off x="4447081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7" name="Title-3"/>
              <p:cNvSpPr/>
              <p:nvPr>
                <p:custDataLst>
                  <p:tags r:id="rId9"/>
                </p:custDataLst>
              </p:nvPr>
            </p:nvSpPr>
            <p:spPr>
              <a:xfrm>
                <a:off x="4447081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2024/12/9-2025/1/5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8" name="Body-3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4457519" y="2658245"/>
                <a:ext cx="1543863" cy="166571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实现</a:t>
                </a:r>
                <a:r>
                  <a:rPr lang="en-US" altLang="zh-CN" sz="1600" b="0" i="0" dirty="0">
                    <a:effectLst/>
                    <a:latin typeface="PingFang SC"/>
                  </a:rPr>
                  <a:t>SSB</a:t>
                </a:r>
                <a:r>
                  <a:rPr lang="zh-CN" altLang="en-US" sz="1600" b="0" i="0" dirty="0">
                    <a:effectLst/>
                    <a:latin typeface="PingFang SC"/>
                  </a:rPr>
                  <a:t>重构算法（</a:t>
                </a:r>
                <a:r>
                  <a:rPr lang="en-US" altLang="zh-CN" sz="1600" b="0" i="0" dirty="0">
                    <a:effectLst/>
                    <a:latin typeface="PingFang SC"/>
                  </a:rPr>
                  <a:t>PSS/SSS</a:t>
                </a:r>
                <a:r>
                  <a:rPr lang="zh-CN" altLang="en-US" sz="1600" b="0" i="0" dirty="0">
                    <a:effectLst/>
                    <a:latin typeface="PingFang SC"/>
                  </a:rPr>
                  <a:t>检测与信号同步）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完成采样率优化（</a:t>
                </a:r>
                <a:r>
                  <a:rPr lang="en-US" altLang="zh-CN" sz="1600" b="0" i="0" dirty="0">
                    <a:effectLst/>
                    <a:latin typeface="PingFang SC"/>
                  </a:rPr>
                  <a:t>2</a:t>
                </a:r>
                <a:r>
                  <a:rPr lang="zh-CN" altLang="en-US" sz="1600" b="0" i="0" dirty="0">
                    <a:effectLst/>
                    <a:latin typeface="PingFang SC"/>
                  </a:rPr>
                  <a:t>倍上采样</a:t>
                </a:r>
                <a:r>
                  <a:rPr lang="en-US" altLang="zh-CN" sz="1600" b="0" i="0" dirty="0">
                    <a:effectLst/>
                    <a:latin typeface="PingFang SC"/>
                  </a:rPr>
                  <a:t>+</a:t>
                </a:r>
                <a:r>
                  <a:rPr lang="zh-CN" altLang="en-US" sz="1600" b="0" i="0" dirty="0">
                    <a:effectLst/>
                    <a:latin typeface="PingFang SC"/>
                  </a:rPr>
                  <a:t>降采样抗混叠）</a:t>
                </a: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6190822" y="1861787"/>
              <a:ext cx="1554302" cy="3540826"/>
              <a:chOff x="6190822" y="1861787"/>
              <a:chExt cx="1554302" cy="3540826"/>
            </a:xfrm>
          </p:grpSpPr>
          <p:sp>
            <p:nvSpPr>
              <p:cNvPr id="101" name="4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90822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2" name="Title-4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90822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2025/1/6-2025/1/26​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3" name="Body-4"/>
              <p:cNvSpPr/>
              <p:nvPr>
                <p:custDataLst>
                  <p:tags r:id="rId13"/>
                </p:custDataLst>
              </p:nvPr>
            </p:nvSpPr>
            <p:spPr>
              <a:xfrm flipH="1">
                <a:off x="6201261" y="2658245"/>
                <a:ext cx="1543863" cy="239950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建立匹配滤波算法：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1600" b="0" i="0" dirty="0">
                    <a:effectLst/>
                    <a:latin typeface="PingFang SC"/>
                  </a:rPr>
                  <a:t>5G</a:t>
                </a:r>
                <a:r>
                  <a:rPr lang="zh-CN" altLang="en-US" sz="1600" b="0" i="0" dirty="0">
                    <a:effectLst/>
                    <a:latin typeface="PingFang SC"/>
                  </a:rPr>
                  <a:t>模式（</a:t>
                </a:r>
                <a:r>
                  <a:rPr lang="en-US" altLang="zh-CN" sz="1600" b="0" i="0" dirty="0">
                    <a:effectLst/>
                    <a:latin typeface="PingFang SC"/>
                  </a:rPr>
                  <a:t>SSB</a:t>
                </a:r>
                <a:r>
                  <a:rPr lang="zh-CN" altLang="en-US" sz="1600" b="0" i="0" dirty="0">
                    <a:effectLst/>
                    <a:latin typeface="PingFang SC"/>
                  </a:rPr>
                  <a:t>模板匹配）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3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effectLst/>
                    <a:latin typeface="PingFang SC"/>
                  </a:rPr>
                  <a:t>非</a:t>
                </a:r>
                <a:r>
                  <a:rPr lang="en-US" altLang="zh-CN" sz="1600" b="0" i="0" dirty="0">
                    <a:effectLst/>
                    <a:latin typeface="PingFang SC"/>
                  </a:rPr>
                  <a:t>5G</a:t>
                </a:r>
                <a:r>
                  <a:rPr lang="zh-CN" altLang="en-US" sz="1600" b="0" i="0" dirty="0">
                    <a:effectLst/>
                    <a:latin typeface="PingFang SC"/>
                  </a:rPr>
                  <a:t>模式（参考信号匹配）</a:t>
                </a:r>
                <a:br>
                  <a:rPr lang="zh-CN" altLang="en-US" sz="1600" b="0" i="0" dirty="0">
                    <a:effectLst/>
                    <a:latin typeface="PingFang SC"/>
                  </a:rPr>
                </a:b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300"/>
                  </a:spcBef>
                  <a:spcAft>
                    <a:spcPts val="1200"/>
                  </a:spcAft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实现信号零点对齐与可视化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endParaRPr lang="zh-CN" altLang="en-US" sz="1400" dirty="0">
                  <a:latin typeface="+mn-ea"/>
                </a:endParaRPr>
              </a:p>
            </p:txBody>
          </p:sp>
        </p:grpSp>
      </p:grp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flip dir="r"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4" name="矩形 3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进度安排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03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75484" y="391701"/>
            <a:ext cx="2679366" cy="558719"/>
            <a:chOff x="4375484" y="391701"/>
            <a:chExt cx="2679366" cy="558719"/>
          </a:xfrm>
        </p:grpSpPr>
        <p:sp>
          <p:nvSpPr>
            <p:cNvPr id="6" name="流程图: 离页连接符 5"/>
            <p:cNvSpPr/>
            <p:nvPr/>
          </p:nvSpPr>
          <p:spPr>
            <a:xfrm rot="5400000">
              <a:off x="5438441" y="-665989"/>
              <a:ext cx="553452" cy="267936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24037" y="391701"/>
              <a:ext cx="2046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已完成进度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75484" y="-852899"/>
            <a:ext cx="2977816" cy="558719"/>
            <a:chOff x="4375484" y="391701"/>
            <a:chExt cx="2977816" cy="558719"/>
          </a:xfrm>
        </p:grpSpPr>
        <p:sp>
          <p:nvSpPr>
            <p:cNvPr id="16" name="流程图: 离页连接符 15"/>
            <p:cNvSpPr/>
            <p:nvPr/>
          </p:nvSpPr>
          <p:spPr>
            <a:xfrm rot="5400000">
              <a:off x="5587666" y="-815214"/>
              <a:ext cx="553452" cy="297781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924037" y="391701"/>
              <a:ext cx="2429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未来进度安排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6" name="组合 9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7052" y="1893537"/>
            <a:ext cx="11155058" cy="3557598"/>
            <a:chOff x="958363" y="1861787"/>
            <a:chExt cx="6786761" cy="3557598"/>
          </a:xfrm>
        </p:grpSpPr>
        <p:grpSp>
          <p:nvGrpSpPr>
            <p:cNvPr id="97" name="组合 96"/>
            <p:cNvGrpSpPr/>
            <p:nvPr/>
          </p:nvGrpSpPr>
          <p:grpSpPr>
            <a:xfrm>
              <a:off x="958363" y="1861787"/>
              <a:ext cx="1543863" cy="3540826"/>
              <a:chOff x="958363" y="1861787"/>
              <a:chExt cx="1543863" cy="3540826"/>
            </a:xfrm>
          </p:grpSpPr>
          <p:sp>
            <p:nvSpPr>
              <p:cNvPr id="116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58363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7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958363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2025/1/27-2025/2/16​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8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58363" y="2658245"/>
                <a:ext cx="1543863" cy="230543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b="0" i="0" dirty="0">
                    <a:effectLst/>
                    <a:latin typeface="PingFang SC"/>
                  </a:rPr>
                  <a:t>✅ 通过最大值同步实现峰值对齐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开发慢时间维</a:t>
                </a:r>
                <a:r>
                  <a:rPr lang="en-US" altLang="zh-CN" sz="1600" b="0" i="0" dirty="0">
                    <a:effectLst/>
                    <a:latin typeface="PingFang SC"/>
                  </a:rPr>
                  <a:t>FFT</a:t>
                </a:r>
                <a:r>
                  <a:rPr lang="zh-CN" altLang="en-US" sz="1600" b="0" i="0" dirty="0">
                    <a:effectLst/>
                    <a:latin typeface="PingFang SC"/>
                  </a:rPr>
                  <a:t>相干积累算法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绘制多普勒剖面图</a:t>
                </a: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702105" y="1861787"/>
              <a:ext cx="1543863" cy="3540826"/>
              <a:chOff x="2702105" y="1861787"/>
              <a:chExt cx="1543863" cy="3540826"/>
            </a:xfrm>
          </p:grpSpPr>
          <p:sp>
            <p:nvSpPr>
              <p:cNvPr id="111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2105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2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02105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2025/2/17-2025/3/9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3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02105" y="2658245"/>
                <a:ext cx="1543863" cy="262187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完成相位补偿</a:t>
                </a:r>
                <a:r>
                  <a:rPr lang="en-US" altLang="zh-CN" sz="1600" b="0" i="0" dirty="0">
                    <a:effectLst/>
                    <a:latin typeface="PingFang SC"/>
                  </a:rPr>
                  <a:t>+</a:t>
                </a:r>
                <a:r>
                  <a:rPr lang="zh-CN" altLang="en-US" sz="1600" b="0" i="0" dirty="0">
                    <a:effectLst/>
                    <a:latin typeface="PingFang SC"/>
                  </a:rPr>
                  <a:t>二次匹配滤波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实现</a:t>
                </a:r>
                <a:r>
                  <a:rPr lang="en-US" altLang="zh-CN" sz="1600" b="0" i="0" dirty="0">
                    <a:effectLst/>
                    <a:latin typeface="PingFang SC"/>
                  </a:rPr>
                  <a:t>MTI</a:t>
                </a:r>
                <a:r>
                  <a:rPr lang="zh-CN" altLang="en-US" sz="1600" b="0" i="0" dirty="0">
                    <a:effectLst/>
                    <a:latin typeface="PingFang SC"/>
                  </a:rPr>
                  <a:t>滤波（静态杂波抑制）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>
                  <a:lnSpc>
                    <a:spcPct val="130000"/>
                  </a:lnSpc>
                </a:pPr>
                <a:br>
                  <a:rPr lang="zh-CN" altLang="en-US" sz="1600" dirty="0"/>
                </a:br>
                <a:r>
                  <a:rPr lang="zh-CN" altLang="en-US" sz="1600" b="0" i="0" dirty="0">
                    <a:effectLst/>
                    <a:latin typeface="PingFang SC"/>
                  </a:rPr>
                  <a:t>✅ 生成</a:t>
                </a:r>
                <a:r>
                  <a:rPr lang="en-US" altLang="zh-CN" sz="1600" b="0" i="0" dirty="0">
                    <a:effectLst/>
                    <a:latin typeface="PingFang SC"/>
                  </a:rPr>
                  <a:t>RD</a:t>
                </a:r>
                <a:r>
                  <a:rPr lang="zh-CN" altLang="en-US" sz="1600" b="0" i="0" dirty="0">
                    <a:effectLst/>
                    <a:latin typeface="PingFang SC"/>
                  </a:rPr>
                  <a:t>图（距离</a:t>
                </a:r>
                <a:r>
                  <a:rPr lang="en-US" altLang="zh-CN" sz="1600" b="0" i="0" dirty="0">
                    <a:effectLst/>
                    <a:latin typeface="PingFang SC"/>
                  </a:rPr>
                  <a:t>-</a:t>
                </a:r>
                <a:r>
                  <a:rPr lang="zh-CN" altLang="en-US" sz="1600" b="0" i="0" dirty="0">
                    <a:effectLst/>
                    <a:latin typeface="PingFang SC"/>
                  </a:rPr>
                  <a:t>速度联合分析）</a:t>
                </a: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4447081" y="1861787"/>
              <a:ext cx="1554301" cy="3540826"/>
              <a:chOff x="4447081" y="1861787"/>
              <a:chExt cx="1554301" cy="3540826"/>
            </a:xfrm>
          </p:grpSpPr>
          <p:sp>
            <p:nvSpPr>
              <p:cNvPr id="106" name="3"/>
              <p:cNvSpPr/>
              <p:nvPr>
                <p:custDataLst>
                  <p:tags r:id="rId8"/>
                </p:custDataLst>
              </p:nvPr>
            </p:nvSpPr>
            <p:spPr>
              <a:xfrm>
                <a:off x="4447081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7" name="Title-3"/>
              <p:cNvSpPr/>
              <p:nvPr>
                <p:custDataLst>
                  <p:tags r:id="rId9"/>
                </p:custDataLst>
              </p:nvPr>
            </p:nvSpPr>
            <p:spPr>
              <a:xfrm>
                <a:off x="4447081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2025/3/10-2025/4/6​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8" name="Body-3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4457519" y="2658245"/>
                <a:ext cx="1543863" cy="263918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0" i="0" dirty="0">
                    <a:effectLst/>
                    <a:latin typeface="PingFang SC"/>
                  </a:rPr>
                  <a:t>✅ 集成</a:t>
                </a:r>
                <a:r>
                  <a:rPr lang="en-US" altLang="zh-CN" sz="1600" b="0" i="0" dirty="0">
                    <a:effectLst/>
                    <a:latin typeface="PingFang SC"/>
                  </a:rPr>
                  <a:t>5G/</a:t>
                </a:r>
                <a:r>
                  <a:rPr lang="zh-CN" altLang="en-US" sz="1600" b="0" i="0" dirty="0">
                    <a:effectLst/>
                    <a:latin typeface="PingFang SC"/>
                  </a:rPr>
                  <a:t>非</a:t>
                </a:r>
                <a:r>
                  <a:rPr lang="en-US" altLang="zh-CN" sz="1600" b="0" i="0" dirty="0">
                    <a:effectLst/>
                    <a:latin typeface="PingFang SC"/>
                  </a:rPr>
                  <a:t>5G</a:t>
                </a:r>
                <a:r>
                  <a:rPr lang="zh-CN" altLang="en-US" sz="1600" b="0" i="0" dirty="0">
                    <a:effectLst/>
                    <a:latin typeface="PingFang SC"/>
                  </a:rPr>
                  <a:t>模式到统一流程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br>
                  <a:rPr lang="zh-CN" altLang="en-US" sz="1600" b="0" i="0" dirty="0">
                    <a:effectLst/>
                    <a:latin typeface="PingFang SC"/>
                  </a:rPr>
                </a:br>
                <a:r>
                  <a:rPr lang="zh-CN" altLang="en-US" sz="1600" b="0" i="0" dirty="0">
                    <a:effectLst/>
                    <a:latin typeface="PingFang SC"/>
                  </a:rPr>
                  <a:t>✅ </a:t>
                </a:r>
                <a:r>
                  <a:rPr lang="en-US" altLang="zh-CN" sz="1600" b="0" i="0" dirty="0">
                    <a:effectLst/>
                    <a:latin typeface="PingFang SC"/>
                  </a:rPr>
                  <a:t>MTI</a:t>
                </a:r>
                <a:r>
                  <a:rPr lang="zh-CN" altLang="en-US" sz="1600" b="0" i="0" dirty="0">
                    <a:effectLst/>
                    <a:latin typeface="PingFang SC"/>
                  </a:rPr>
                  <a:t>滤波器优化：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effectLst/>
                    <a:latin typeface="PingFang SC"/>
                  </a:rPr>
                  <a:t>单</a:t>
                </a:r>
                <a:r>
                  <a:rPr lang="en-US" altLang="zh-CN" sz="1600" b="0" i="0" dirty="0">
                    <a:effectLst/>
                    <a:latin typeface="PingFang SC"/>
                  </a:rPr>
                  <a:t>/</a:t>
                </a:r>
                <a:r>
                  <a:rPr lang="zh-CN" altLang="en-US" sz="1600" b="0" i="0" dirty="0">
                    <a:effectLst/>
                    <a:latin typeface="PingFang SC"/>
                  </a:rPr>
                  <a:t>双延迟对消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3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effectLst/>
                    <a:latin typeface="PingFang SC"/>
                  </a:rPr>
                  <a:t>可变延迟量</a:t>
                </a:r>
                <a:r>
                  <a:rPr lang="en-US" altLang="zh-CN" sz="1600" b="0" i="0" dirty="0">
                    <a:effectLst/>
                    <a:latin typeface="PingFang SC"/>
                  </a:rPr>
                  <a:t>/</a:t>
                </a:r>
                <a:r>
                  <a:rPr lang="zh-CN" altLang="en-US" sz="1600" b="0" i="0" dirty="0">
                    <a:effectLst/>
                    <a:latin typeface="PingFang SC"/>
                  </a:rPr>
                  <a:t>距离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300"/>
                  </a:spcBef>
                  <a:spcAft>
                    <a:spcPts val="1200"/>
                  </a:spcAft>
                </a:pPr>
                <a:br>
                  <a:rPr lang="zh-CN" altLang="en-US" sz="1600" b="0" i="0" dirty="0">
                    <a:effectLst/>
                    <a:latin typeface="PingFang SC"/>
                  </a:rPr>
                </a:br>
                <a:r>
                  <a:rPr lang="zh-CN" altLang="en-US" sz="1600" b="0" i="0" dirty="0">
                    <a:effectLst/>
                    <a:latin typeface="PingFang SC"/>
                  </a:rPr>
                  <a:t>✅ 慢时间维加窗处理</a:t>
                </a:r>
                <a:endParaRPr lang="zh-CN" altLang="en-US" sz="1600" b="0" i="0" dirty="0">
                  <a:effectLst/>
                  <a:latin typeface="PingFang SC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6190822" y="1861787"/>
              <a:ext cx="1554302" cy="3557598"/>
              <a:chOff x="6190822" y="1861787"/>
              <a:chExt cx="1554302" cy="3557598"/>
            </a:xfrm>
          </p:grpSpPr>
          <p:sp>
            <p:nvSpPr>
              <p:cNvPr id="101" name="4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90822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2" name="Title-4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90822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2025/4/7-2025/4/26​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3" name="Body-4"/>
              <p:cNvSpPr/>
              <p:nvPr>
                <p:custDataLst>
                  <p:tags r:id="rId13"/>
                </p:custDataLst>
              </p:nvPr>
            </p:nvSpPr>
            <p:spPr>
              <a:xfrm flipH="1">
                <a:off x="6201261" y="2658245"/>
                <a:ext cx="1543863" cy="276114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0" i="0" dirty="0">
                    <a:effectLst/>
                    <a:latin typeface="PingFang SC"/>
                  </a:rPr>
                  <a:t>✅ ​</a:t>
                </a:r>
                <a:r>
                  <a:rPr lang="zh-CN" altLang="en-US" sz="1600" b="1" i="0" dirty="0">
                    <a:effectLst/>
                    <a:latin typeface="inherit"/>
                  </a:rPr>
                  <a:t>​</a:t>
                </a:r>
                <a:r>
                  <a:rPr lang="zh-CN" altLang="en-US" sz="1600" i="0" dirty="0">
                    <a:effectLst/>
                    <a:latin typeface="inherit"/>
                  </a:rPr>
                  <a:t>第二次收发实验</a:t>
                </a:r>
                <a:endParaRPr lang="en-US" altLang="zh-CN" sz="1600" i="0" dirty="0">
                  <a:effectLst/>
                  <a:latin typeface="inherit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1" i="0" dirty="0">
                    <a:effectLst/>
                    <a:latin typeface="inherit"/>
                  </a:rPr>
                  <a:t>​</a:t>
                </a:r>
                <a:r>
                  <a:rPr lang="zh-CN" altLang="en-US" sz="1600" b="0" i="0" dirty="0">
                    <a:effectLst/>
                    <a:latin typeface="PingFang SC"/>
                  </a:rPr>
                  <a:t>​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0" i="0" dirty="0">
                    <a:effectLst/>
                    <a:latin typeface="PingFang SC"/>
                  </a:rPr>
                  <a:t>✅ 探索​</a:t>
                </a:r>
                <a:r>
                  <a:rPr lang="zh-CN" altLang="en-US" sz="1600" b="1" i="0" dirty="0">
                    <a:effectLst/>
                    <a:latin typeface="inherit"/>
                  </a:rPr>
                  <a:t>​</a:t>
                </a:r>
                <a:r>
                  <a:rPr lang="zh-CN" altLang="en-US" sz="1600" i="0" dirty="0">
                    <a:effectLst/>
                    <a:latin typeface="inherit"/>
                  </a:rPr>
                  <a:t>非相参处理的实现方法​</a:t>
                </a:r>
                <a:r>
                  <a:rPr lang="zh-CN" altLang="en-US" sz="1600" i="0" dirty="0">
                    <a:effectLst/>
                    <a:latin typeface="PingFang SC"/>
                  </a:rPr>
                  <a:t>​</a:t>
                </a:r>
                <a:endParaRPr lang="en-US" altLang="zh-CN" sz="160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zh-CN" altLang="en-US" sz="1600" i="0" dirty="0">
                  <a:effectLst/>
                  <a:latin typeface="PingFang SC"/>
                </a:endParaRPr>
              </a:p>
              <a:p>
                <a:pPr algn="l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1600" b="0" i="0" dirty="0">
                    <a:effectLst/>
                    <a:latin typeface="PingFang SC"/>
                  </a:rPr>
                  <a:t>✅ 加入​</a:t>
                </a:r>
                <a:r>
                  <a:rPr lang="zh-CN" altLang="en-US" sz="1600" b="1" i="0" dirty="0">
                    <a:effectLst/>
                    <a:latin typeface="inherit"/>
                  </a:rPr>
                  <a:t>​</a:t>
                </a:r>
                <a:r>
                  <a:rPr lang="en-US" altLang="zh-CN" sz="1600" i="0" dirty="0">
                    <a:effectLst/>
                    <a:latin typeface="inherit"/>
                  </a:rPr>
                  <a:t>LMS</a:t>
                </a:r>
                <a:r>
                  <a:rPr lang="zh-CN" altLang="en-US" sz="1600" i="0" dirty="0">
                    <a:effectLst/>
                    <a:latin typeface="inherit"/>
                  </a:rPr>
                  <a:t>滤波优化信噪比​</a:t>
                </a:r>
                <a:r>
                  <a:rPr lang="zh-CN" altLang="en-US" sz="1600" i="0" dirty="0">
                    <a:effectLst/>
                    <a:latin typeface="PingFang SC"/>
                  </a:rPr>
                  <a:t>​</a:t>
                </a:r>
                <a:endParaRPr lang="zh-CN" altLang="en-US" sz="160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endParaRPr lang="zh-CN" altLang="en-US" sz="1400" dirty="0">
                  <a:latin typeface="+mn-ea"/>
                </a:endParaRPr>
              </a:p>
            </p:txBody>
          </p:sp>
        </p:grpSp>
      </p:grp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4" name="矩形 3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进度安排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03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375484" y="391701"/>
            <a:ext cx="2977816" cy="558719"/>
            <a:chOff x="4375484" y="391701"/>
            <a:chExt cx="2977816" cy="558719"/>
          </a:xfrm>
        </p:grpSpPr>
        <p:sp>
          <p:nvSpPr>
            <p:cNvPr id="6" name="流程图: 离页连接符 5"/>
            <p:cNvSpPr/>
            <p:nvPr/>
          </p:nvSpPr>
          <p:spPr>
            <a:xfrm rot="5400000">
              <a:off x="5587666" y="-815214"/>
              <a:ext cx="553452" cy="297781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924037" y="391701"/>
              <a:ext cx="2429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未来进度安排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375484" y="-763999"/>
            <a:ext cx="2679366" cy="558719"/>
            <a:chOff x="4375484" y="391701"/>
            <a:chExt cx="2679366" cy="558719"/>
          </a:xfrm>
        </p:grpSpPr>
        <p:sp>
          <p:nvSpPr>
            <p:cNvPr id="8" name="流程图: 离页连接符 7"/>
            <p:cNvSpPr/>
            <p:nvPr/>
          </p:nvSpPr>
          <p:spPr>
            <a:xfrm rot="5400000">
              <a:off x="5438441" y="-665989"/>
              <a:ext cx="553452" cy="2679366"/>
            </a:xfrm>
            <a:prstGeom prst="flowChartOffpageConnector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924037" y="391701"/>
              <a:ext cx="20463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已完成进度</a:t>
              </a:r>
              <a:endParaRPr lang="zh-CN" altLang="en-US" sz="2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组合 9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27052" y="1893537"/>
            <a:ext cx="11214098" cy="3540826"/>
            <a:chOff x="958363" y="1861787"/>
            <a:chExt cx="5043019" cy="3540826"/>
          </a:xfrm>
        </p:grpSpPr>
        <p:grpSp>
          <p:nvGrpSpPr>
            <p:cNvPr id="11" name="组合 10"/>
            <p:cNvGrpSpPr/>
            <p:nvPr/>
          </p:nvGrpSpPr>
          <p:grpSpPr>
            <a:xfrm>
              <a:off x="958363" y="1861787"/>
              <a:ext cx="1543863" cy="3540826"/>
              <a:chOff x="958363" y="1861787"/>
              <a:chExt cx="1543863" cy="3540826"/>
            </a:xfrm>
          </p:grpSpPr>
          <p:sp>
            <p:nvSpPr>
              <p:cNvPr id="25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58363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6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958363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2025/4/27-2025/6/30​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7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58363" y="2658245"/>
                <a:ext cx="1543863" cy="230178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优化第二辐射源信号探测精度和稳定性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优化非相参积累算法， 实现多辐射源融合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测试压缩感知技术在低速目标检测中的应用 </a:t>
                </a:r>
                <a:br>
                  <a:rPr lang="zh-CN" altLang="en-US" sz="1600" dirty="0"/>
                </a:br>
                <a:endParaRPr lang="zh-CN" altLang="en-US" sz="1600" dirty="0">
                  <a:latin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702105" y="1861787"/>
              <a:ext cx="1543863" cy="3540826"/>
              <a:chOff x="2702105" y="1861787"/>
              <a:chExt cx="1543863" cy="3540826"/>
            </a:xfrm>
          </p:grpSpPr>
          <p:sp>
            <p:nvSpPr>
              <p:cNvPr id="22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2105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3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02105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2025/7/1-2025/8/30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4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02105" y="2658245"/>
                <a:ext cx="1543863" cy="262597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完成可视化软件平台搭建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完成硬件平台的系统集成  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开发嵌入式实时处理模块  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搭建多通道信号采集系统 </a:t>
                </a:r>
                <a:endParaRPr lang="zh-CN" altLang="en-US" sz="1600" b="0" i="0" dirty="0">
                  <a:effectLst/>
                  <a:latin typeface="PingFang SC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447081" y="1861787"/>
              <a:ext cx="1554301" cy="3540826"/>
              <a:chOff x="4447081" y="1861787"/>
              <a:chExt cx="1554301" cy="3540826"/>
            </a:xfrm>
          </p:grpSpPr>
          <p:sp>
            <p:nvSpPr>
              <p:cNvPr id="19" name="3"/>
              <p:cNvSpPr/>
              <p:nvPr>
                <p:custDataLst>
                  <p:tags r:id="rId8"/>
                </p:custDataLst>
              </p:nvPr>
            </p:nvSpPr>
            <p:spPr>
              <a:xfrm>
                <a:off x="4447081" y="2510591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0" name="Title-3"/>
              <p:cNvSpPr/>
              <p:nvPr>
                <p:custDataLst>
                  <p:tags r:id="rId9"/>
                </p:custDataLst>
              </p:nvPr>
            </p:nvSpPr>
            <p:spPr>
              <a:xfrm>
                <a:off x="4447081" y="1861787"/>
                <a:ext cx="1543862" cy="369332"/>
              </a:xfrm>
              <a:prstGeom prst="roundRect">
                <a:avLst>
                  <a:gd name="adj" fmla="val 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en-US" altLang="zh-CN" b="1" i="0" dirty="0">
                    <a:effectLst/>
                    <a:latin typeface="PingFang SC"/>
                  </a:rPr>
                  <a:t>2025/9/1-2025/10/30​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1" name="Body-3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4457519" y="2658245"/>
                <a:ext cx="1543863" cy="2123658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 fontAlgn="base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完成</a:t>
                </a:r>
                <a:r>
                  <a:rPr lang="en-US" altLang="zh-CN" sz="1600" b="0" i="0" dirty="0">
                    <a:effectLst/>
                    <a:latin typeface="PingFang SC"/>
                  </a:rPr>
                  <a:t>1</a:t>
                </a:r>
                <a:r>
                  <a:rPr lang="zh-CN" altLang="en-US" sz="1600" b="0" i="0" dirty="0">
                    <a:effectLst/>
                    <a:latin typeface="PingFang SC"/>
                  </a:rPr>
                  <a:t>篇</a:t>
                </a:r>
                <a:r>
                  <a:rPr lang="zh-CN" altLang="en-US" sz="1600" dirty="0">
                    <a:latin typeface="PingFang SC"/>
                  </a:rPr>
                  <a:t>核心期刊论撰写文</a:t>
                </a:r>
                <a:r>
                  <a:rPr lang="zh-CN" altLang="en-US" sz="1600" b="0" i="0" dirty="0">
                    <a:effectLst/>
                    <a:latin typeface="PingFang SC"/>
                  </a:rPr>
                  <a:t>（基于多辐射源融合的无人机探测方法）  </a:t>
                </a:r>
                <a:endParaRPr lang="zh-CN" altLang="en-US" sz="1600" b="0" i="0" dirty="0">
                  <a:effectLst/>
                  <a:latin typeface="PingFang SC"/>
                </a:endParaRPr>
              </a:p>
              <a:p>
                <a:pPr algn="ctr" fontAlgn="base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申请</a:t>
                </a:r>
                <a:r>
                  <a:rPr lang="en-US" altLang="zh-CN" sz="1600" b="0" i="0" dirty="0">
                    <a:effectLst/>
                    <a:latin typeface="PingFang SC"/>
                  </a:rPr>
                  <a:t>1</a:t>
                </a:r>
                <a:r>
                  <a:rPr lang="zh-CN" altLang="en-US" sz="1600" b="0" i="0" dirty="0">
                    <a:effectLst/>
                    <a:latin typeface="PingFang SC"/>
                  </a:rPr>
                  <a:t>项发明专利（外辐射源信号处理算法）</a:t>
                </a:r>
                <a:endParaRPr lang="en-US" altLang="zh-CN" sz="1600" b="0" i="0" dirty="0">
                  <a:effectLst/>
                  <a:latin typeface="PingFang SC"/>
                </a:endParaRPr>
              </a:p>
              <a:p>
                <a:pPr algn="ctr" fontAlgn="base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600" b="0" i="0" dirty="0">
                    <a:effectLst/>
                    <a:latin typeface="PingFang SC"/>
                  </a:rPr>
                  <a:t>• </a:t>
                </a:r>
                <a:r>
                  <a:rPr lang="zh-CN" altLang="en-US" sz="1600" b="0" i="0" dirty="0">
                    <a:effectLst/>
                    <a:latin typeface="PingFang SC"/>
                  </a:rPr>
                  <a:t>完成项目结项的各种工作</a:t>
                </a:r>
                <a:endParaRPr lang="zh-CN" altLang="en-US" sz="1600" b="0" i="0" dirty="0">
                  <a:effectLst/>
                  <a:latin typeface="PingFang SC"/>
                </a:endParaRPr>
              </a:p>
            </p:txBody>
          </p:sp>
        </p:grpSp>
      </p:grp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225218" y="350365"/>
            <a:ext cx="1831714" cy="646658"/>
            <a:chOff x="516465" y="326968"/>
            <a:chExt cx="1831714" cy="646658"/>
          </a:xfrm>
        </p:grpSpPr>
        <p:sp>
          <p:nvSpPr>
            <p:cNvPr id="6" name="矩形 5"/>
            <p:cNvSpPr/>
            <p:nvPr/>
          </p:nvSpPr>
          <p:spPr>
            <a:xfrm>
              <a:off x="1137591" y="450242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BD934E"/>
                  </a:solidFill>
                </a:rPr>
                <a:t>经费安排</a:t>
              </a:r>
              <a:endParaRPr lang="zh-CN" altLang="en-US" sz="2000" dirty="0">
                <a:solidFill>
                  <a:srgbClr val="BD934E"/>
                </a:solidFill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516465" y="326968"/>
              <a:ext cx="621126" cy="646658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B88F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solidFill>
                    <a:srgbClr val="B88F4D"/>
                  </a:solidFill>
                </a:rPr>
                <a:t>04</a:t>
              </a:r>
              <a:endParaRPr lang="zh-CN" altLang="en-US" sz="2400" b="1" dirty="0">
                <a:solidFill>
                  <a:srgbClr val="B88F4D"/>
                </a:solidFill>
              </a:endParaRPr>
            </a:p>
          </p:txBody>
        </p:sp>
      </p:grp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7917" y="1239146"/>
          <a:ext cx="10816165" cy="5254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17"/>
                <a:gridCol w="1970570"/>
                <a:gridCol w="1221325"/>
                <a:gridCol w="3576094"/>
                <a:gridCol w="1186398"/>
                <a:gridCol w="1780161"/>
              </a:tblGrid>
              <a:tr h="303213">
                <a:tc rowSpan="2" gridSpan="2"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开支科目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rowSpan="2" hMerge="1">
                  <a:tcPr/>
                </a:tc>
                <a:tc rowSpan="2"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预算经费（元）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主要用途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阶段下达经费计划（元）</a:t>
                      </a:r>
                      <a:endParaRPr lang="zh-CN" altLang="en-US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tc hMerge="1">
                  <a:tcPr/>
                </a:tc>
              </a:tr>
              <a:tr h="359064"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上半阶段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下半阶段</a:t>
                      </a:r>
                      <a:endParaRPr lang="zh-CN" altLang="en-US"/>
                    </a:p>
                  </a:txBody>
                  <a:tcPr/>
                </a:tc>
              </a:tr>
              <a:tr h="669199">
                <a:tc rowSpan="5"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1.</a:t>
                      </a:r>
                      <a:r>
                        <a:rPr lang="zh-CN" altLang="en-US" dirty="0"/>
                        <a:t>业务费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计算、分析测试费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算力租用、服务器租用、场地费等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</a:tr>
              <a:tr h="359064">
                <a:tc v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能源动力费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</a:tr>
              <a:tr h="366065">
                <a:tc v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会议、差旅费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1000.00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用于调研工作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</a:tr>
              <a:tr h="359064">
                <a:tc v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文献检索费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</a:tr>
              <a:tr h="366065">
                <a:tc v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论文出版费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5000.00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发专利、论文的稿费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0.00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5000.00</a:t>
                      </a:r>
                      <a:endParaRPr lang="en-US" altLang="zh-CN" dirty="0"/>
                    </a:p>
                  </a:txBody>
                  <a:tcPr/>
                </a:tc>
              </a:tr>
              <a:tr h="669199">
                <a:tc gridSpan="2"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仪器设备购置费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3000.00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购置实验相关仪器如天线、无人机等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3000.00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</a:tr>
              <a:tr h="359064">
                <a:tc gridSpan="2"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实验设备试制费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设备安装与调试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500.00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</a:tr>
              <a:tr h="359064">
                <a:tc gridSpan="2"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/>
                        <a:t>材料费</a:t>
                      </a:r>
                      <a:endParaRPr lang="zh-CN" altLang="en-US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0.00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/>
                        <a:t>0.00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0.00</a:t>
                      </a:r>
                      <a:endParaRPr lang="en-US" altLang="zh-CN" dirty="0"/>
                    </a:p>
                  </a:txBody>
                  <a:tcPr/>
                </a:tc>
              </a:tr>
              <a:tr h="366065">
                <a:tc gridSpan="2"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预算经费总额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10000.00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dirty="0"/>
                        <a:t>无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4000.00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dirty="0"/>
                        <a:t>6000.00</a:t>
                      </a:r>
                      <a:endParaRPr lang="en-US" altLang="zh-CN" dirty="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7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80" name="矩形 79"/>
          <p:cNvSpPr/>
          <p:nvPr/>
        </p:nvSpPr>
        <p:spPr>
          <a:xfrm>
            <a:off x="-4762" y="0"/>
            <a:ext cx="12201525" cy="6858000"/>
          </a:xfrm>
          <a:prstGeom prst="rect">
            <a:avLst/>
          </a:prstGeom>
          <a:gradFill>
            <a:gsLst>
              <a:gs pos="0">
                <a:srgbClr val="0070C0">
                  <a:alpha val="95000"/>
                </a:srgbClr>
              </a:gs>
              <a:gs pos="100000">
                <a:srgbClr val="0070C0">
                  <a:alpha val="80000"/>
                </a:srgbClr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2" name="图片 81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9900000">
            <a:off x="-225425" y="3722007"/>
            <a:ext cx="4442460" cy="4091940"/>
          </a:xfrm>
          <a:prstGeom prst="rect">
            <a:avLst/>
          </a:prstGeom>
        </p:spPr>
      </p:pic>
      <p:pic>
        <p:nvPicPr>
          <p:cNvPr id="81" name="图片 80" descr="G:\2021\校庆\PPT\logo-08.pnglogo-0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316380">
            <a:off x="8076749" y="-1207408"/>
            <a:ext cx="4442460" cy="40919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9525" y="1481456"/>
            <a:ext cx="12201525" cy="3814444"/>
          </a:xfrm>
          <a:prstGeom prst="rect">
            <a:avLst/>
          </a:prstGeom>
          <a:solidFill>
            <a:srgbClr val="00487E"/>
          </a:solidFill>
          <a:ln>
            <a:noFill/>
          </a:ln>
          <a:effectLst>
            <a:outerShdw blurRad="101600" sx="103000" sy="103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81716" y="2901357"/>
            <a:ext cx="3715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rgbClr val="B88F4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谢谢观看</a:t>
            </a:r>
            <a:endParaRPr lang="zh-CN" altLang="en-US" sz="6000" b="1" dirty="0">
              <a:solidFill>
                <a:srgbClr val="BD934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 descr="徽标&#10;&#10;描述已自动生成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655" y="3796250"/>
            <a:ext cx="4025164" cy="83528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3.xml><?xml version="1.0" encoding="utf-8"?>
<p:tagLst xmlns:p="http://schemas.openxmlformats.org/presentationml/2006/main">
  <p:tag name="KSO_WM_DIAGRAM_VIRTUALLY_FRAME" val="{&quot;height&quot;:155.45692913385818,&quot;left&quot;:212.68047244094487,&quot;top&quot;:261.04629921259846,&quot;width&quot;:701.5269291338584}"/>
</p:tagLst>
</file>

<file path=ppt/tags/tag5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5.xml><?xml version="1.0" encoding="utf-8"?>
<p:tagLst xmlns:p="http://schemas.openxmlformats.org/presentationml/2006/main">
  <p:tag name="KSO_WM_DIAGRAM_VIRTUALLY_FRAME" val="{&quot;height&quot;:155.45692913385818,&quot;left&quot;:212.68047244094487,&quot;top&quot;:261.04629921259846,&quot;width&quot;:701.5269291338584}"/>
</p:tagLst>
</file>

<file path=ppt/tags/tag5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7.xml><?xml version="1.0" encoding="utf-8"?>
<p:tagLst xmlns:p="http://schemas.openxmlformats.org/presentationml/2006/main">
  <p:tag name="KSO_WM_DIAGRAM_VIRTUALLY_FRAME" val="{&quot;height&quot;:155.45692913385818,&quot;left&quot;:212.68047244094487,&quot;top&quot;:261.04629921259846,&quot;width&quot;:701.5269291338584}"/>
</p:tagLst>
</file>

<file path=ppt/tags/tag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59.xml><?xml version="1.0" encoding="utf-8"?>
<p:tagLst xmlns:p="http://schemas.openxmlformats.org/presentationml/2006/main">
  <p:tag name="KSO_WM_DIAGRAM_VIRTUALLY_FRAME" val="{&quot;height&quot;:155.45692913385818,&quot;left&quot;:212.68047244094487,&quot;top&quot;:261.04629921259846,&quot;width&quot;:701.5269291338584}"/>
</p:tagLst>
</file>

<file path=ppt/tags/tag6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2.xml><?xml version="1.0" encoding="utf-8"?>
<p:tagLst xmlns:p="http://schemas.openxmlformats.org/presentationml/2006/main">
  <p:tag name="KSO_WM_DIAGRAM_VIRTUALLY_FRAME" val="{&quot;height&quot;:155.45692913385818,&quot;left&quot;:212.68047244094487,&quot;top&quot;:261.04629921259846,&quot;width&quot;:701.5269291338584}"/>
</p:tagLst>
</file>

<file path=ppt/tags/tag6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7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8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9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0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01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"/>
  <p:tag name="OP_SCP_COMPONENT_INFO" val="{&quot;title&quot;:&quot;渐变3项流程PPT组件&quot;,&quot;description&quot;:&quot;渐变3项流程PPT组件&quot;,&quot;keywords&quot;:[&quot;渐变&quot;,&quot;3项&quot;,&quot;流程&quot;,&quot;PPT组件&quot;],&quot;labels&quot;:[]}"/>
  <p:tag name="OP_SCP_GROUP_ID" val="4ca9eeef-6849-fa4d-e332-3e3621188d1e"/>
  <p:tag name="OP_SCP_ITEM_COUNT" val="3"/>
</p:tagLst>
</file>

<file path=ppt/tags/tag10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0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10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0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106.xml><?xml version="1.0" encoding="utf-8"?>
<p:tagLst xmlns:p="http://schemas.openxmlformats.org/presentationml/2006/main">
  <p:tag name="OP_SCP_ITEM_INDEX" val="2"/>
</p:tagLst>
</file>

<file path=ppt/tags/tag107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108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109.xml><?xml version="1.0" encoding="utf-8"?>
<p:tagLst xmlns:p="http://schemas.openxmlformats.org/presentationml/2006/main">
  <p:tag name="OP_SCP_ITEM_INDEX" val="3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17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"/>
  <p:tag name="OP_SCP_COMPONENT_INFO" val="{&quot;title&quot;:&quot;渐变3项流程PPT组件&quot;,&quot;description&quot;:&quot;渐变3项流程PPT组件&quot;,&quot;keywords&quot;:[&quot;渐变&quot;,&quot;3项&quot;,&quot;流程&quot;,&quot;PPT组件&quot;],&quot;labels&quot;:[]}"/>
  <p:tag name="OP_SCP_GROUP_ID" val="4ca9eeef-6849-fa4d-e332-3e3621188d1e"/>
  <p:tag name="OP_SCP_ITEM_COUNT" val="3"/>
</p:tagLst>
</file>

<file path=ppt/tags/tag118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19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120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21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122.xml><?xml version="1.0" encoding="utf-8"?>
<p:tagLst xmlns:p="http://schemas.openxmlformats.org/presentationml/2006/main">
  <p:tag name="OP_SCP_ITEM_INDEX" val="2"/>
</p:tagLst>
</file>

<file path=ppt/tags/tag123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124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125.xml><?xml version="1.0" encoding="utf-8"?>
<p:tagLst xmlns:p="http://schemas.openxmlformats.org/presentationml/2006/main">
  <p:tag name="OP_SCP_ITEM_INDEX" val="3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3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4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5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7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8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1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5396"/>
  <p:tag name="KSO_WM_UNIT_ID" val="custom20205396_7*e*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5396"/>
  <p:tag name="KSO_WM_UNIT_ID" val="custom20205396_7*a*1"/>
  <p:tag name="KSO_WM_UNIT_ISNUMDGMTITLE" val="0"/>
</p:tagLst>
</file>

<file path=ppt/tags/tag1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9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4"/>
  <p:tag name="OP_SCP_COMPONENT_INFO" val="{&quot;title&quot;:&quot;渐变阴影4项列表PPT组件&quot;,&quot;description&quot;:&quot;渐变阴影4项列表PPT组件&quot;,&quot;keywords&quot;:[&quot;渐变&quot;,&quot;阴影&quot;,&quot;4项&quot;,&quot;列表&quot;,&quot;PPT组件&quot;],&quot;labels&quot;:[]}"/>
  <p:tag name="OP_SCP_GROUP_ID" val="e6a0d15a-4667-9758-12fc-4fce2551075f"/>
  <p:tag name="OP_SCP_ITEM_COUNT" val="4"/>
</p:tagLst>
</file>

<file path=ppt/tags/tag190.xml><?xml version="1.0" encoding="utf-8"?>
<p:tagLst xmlns:p="http://schemas.openxmlformats.org/presentationml/2006/main">
  <p:tag name="OP_SCP_ITEM_INDEX" val="1"/>
</p:tagLst>
</file>

<file path=ppt/tags/tag191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92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193.xml><?xml version="1.0" encoding="utf-8"?>
<p:tagLst xmlns:p="http://schemas.openxmlformats.org/presentationml/2006/main">
  <p:tag name="OP_SCP_ITEM_INDEX" val="2"/>
</p:tagLst>
</file>

<file path=ppt/tags/tag19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9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196.xml><?xml version="1.0" encoding="utf-8"?>
<p:tagLst xmlns:p="http://schemas.openxmlformats.org/presentationml/2006/main">
  <p:tag name="OP_SCP_ITEM_INDEX" val="3"/>
</p:tagLst>
</file>

<file path=ppt/tags/tag197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198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199.xml><?xml version="1.0" encoding="utf-8"?>
<p:tagLst xmlns:p="http://schemas.openxmlformats.org/presentationml/2006/main">
  <p:tag name="OP_SCP_ITEM_INDEX" val="4"/>
</p:tagLst>
</file>

<file path=ppt/tags/tag200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201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。"/>
</p:tagLst>
</file>

<file path=ppt/tags/tag20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3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4"/>
  <p:tag name="OP_SCP_COMPONENT_INFO" val="{&quot;title&quot;:&quot;渐变阴影4项列表PPT组件&quot;,&quot;description&quot;:&quot;渐变阴影4项列表PPT组件&quot;,&quot;keywords&quot;:[&quot;渐变&quot;,&quot;阴影&quot;,&quot;4项&quot;,&quot;列表&quot;,&quot;PPT组件&quot;],&quot;labels&quot;:[]}"/>
  <p:tag name="OP_SCP_GROUP_ID" val="e6a0d15a-4667-9758-12fc-4fce2551075f"/>
  <p:tag name="OP_SCP_ITEM_COUNT" val="4"/>
</p:tagLst>
</file>

<file path=ppt/tags/tag204.xml><?xml version="1.0" encoding="utf-8"?>
<p:tagLst xmlns:p="http://schemas.openxmlformats.org/presentationml/2006/main">
  <p:tag name="OP_SCP_ITEM_INDEX" val="1"/>
</p:tagLst>
</file>

<file path=ppt/tags/tag205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06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07.xml><?xml version="1.0" encoding="utf-8"?>
<p:tagLst xmlns:p="http://schemas.openxmlformats.org/presentationml/2006/main">
  <p:tag name="OP_SCP_ITEM_INDEX" val="2"/>
</p:tagLst>
</file>

<file path=ppt/tags/tag208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09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10.xml><?xml version="1.0" encoding="utf-8"?>
<p:tagLst xmlns:p="http://schemas.openxmlformats.org/presentationml/2006/main">
  <p:tag name="OP_SCP_ITEM_INDEX" val="3"/>
</p:tagLst>
</file>

<file path=ppt/tags/tag211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12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213.xml><?xml version="1.0" encoding="utf-8"?>
<p:tagLst xmlns:p="http://schemas.openxmlformats.org/presentationml/2006/main">
  <p:tag name="OP_SCP_ITEM_INDEX" val="4"/>
</p:tagLst>
</file>

<file path=ppt/tags/tag214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215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。"/>
</p:tagLst>
</file>

<file path=ppt/tags/tag2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7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4"/>
  <p:tag name="OP_SCP_COMPONENT_INFO" val="{&quot;title&quot;:&quot;渐变阴影4项列表PPT组件&quot;,&quot;description&quot;:&quot;渐变阴影4项列表PPT组件&quot;,&quot;keywords&quot;:[&quot;渐变&quot;,&quot;阴影&quot;,&quot;4项&quot;,&quot;列表&quot;,&quot;PPT组件&quot;],&quot;labels&quot;:[]}"/>
  <p:tag name="OP_SCP_GROUP_ID" val="e6a0d15a-4667-9758-12fc-4fce2551075f"/>
  <p:tag name="OP_SCP_ITEM_COUNT" val="4"/>
</p:tagLst>
</file>

<file path=ppt/tags/tag218.xml><?xml version="1.0" encoding="utf-8"?>
<p:tagLst xmlns:p="http://schemas.openxmlformats.org/presentationml/2006/main">
  <p:tag name="OP_SCP_ITEM_INDEX" val="1"/>
</p:tagLst>
</file>

<file path=ppt/tags/tag219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2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21.xml><?xml version="1.0" encoding="utf-8"?>
<p:tagLst xmlns:p="http://schemas.openxmlformats.org/presentationml/2006/main">
  <p:tag name="OP_SCP_ITEM_INDEX" val="2"/>
</p:tagLst>
</file>

<file path=ppt/tags/tag222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2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24.xml><?xml version="1.0" encoding="utf-8"?>
<p:tagLst xmlns:p="http://schemas.openxmlformats.org/presentationml/2006/main">
  <p:tag name="OP_SCP_ITEM_INDEX" val="3"/>
</p:tagLst>
</file>

<file path=ppt/tags/tag225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26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2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8.xml><?xml version="1.0" encoding="utf-8"?>
<p:tagLst xmlns:p="http://schemas.openxmlformats.org/presentationml/2006/main">
  <p:tag name="TABLE_ENDDRAG_ORIGIN_RECT" val="960*394"/>
  <p:tag name="TABLE_ENDDRAG_RECT" val="0*145*960*394"/>
</p:tagLst>
</file>

<file path=ppt/tags/tag2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1.xml><?xml version="1.0" encoding="utf-8"?>
<p:tagLst xmlns:p="http://schemas.openxmlformats.org/presentationml/2006/main">
  <p:tag name="COMMONDATA" val="eyJoZGlkIjoiZDliOWM2MzNlZjk4NTNhNjlmZThmZjcxNGE1Y2Q0Zm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3120</Words>
  <Application>WPS 演示</Application>
  <PresentationFormat>宽屏</PresentationFormat>
  <Paragraphs>691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Wingdings</vt:lpstr>
      <vt:lpstr>Arial</vt:lpstr>
      <vt:lpstr>楷体</vt:lpstr>
      <vt:lpstr>华文楷体</vt:lpstr>
      <vt:lpstr>Arial Unicode MS</vt:lpstr>
      <vt:lpstr>Calibri</vt:lpstr>
      <vt:lpstr>Times New Roman</vt:lpstr>
      <vt:lpstr>Source Sans Pro Light</vt:lpstr>
      <vt:lpstr>Segoe Print</vt:lpstr>
      <vt:lpstr>黑体</vt:lpstr>
      <vt:lpstr>PingFang SC</vt:lpstr>
      <vt:lpstr>inherit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PC</dc:creator>
  <cp:lastModifiedBy>ben</cp:lastModifiedBy>
  <cp:revision>793</cp:revision>
  <dcterms:created xsi:type="dcterms:W3CDTF">2019-06-19T02:08:00Z</dcterms:created>
  <dcterms:modified xsi:type="dcterms:W3CDTF">2025-05-14T06:08:26Z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88B58E5D67814CE2A8CC26AF74E84C0D_12</vt:lpwstr>
  </property>
</Properties>
</file>